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sldIdLst>
    <p:sldId id="256" r:id="rId2"/>
    <p:sldId id="257" r:id="rId3"/>
    <p:sldId id="27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4" r:id="rId18"/>
    <p:sldId id="277" r:id="rId19"/>
    <p:sldId id="275" r:id="rId20"/>
    <p:sldId id="276"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BA9B2-DCF1-4733-A0BA-0DA3DD706EB8}"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2A7C6-9CFD-4623-A175-2C0600BFBB0C}" type="slidenum">
              <a:rPr lang="en-US" smtClean="0"/>
              <a:t>‹#›</a:t>
            </a:fld>
            <a:endParaRPr lang="en-US"/>
          </a:p>
        </p:txBody>
      </p:sp>
    </p:spTree>
    <p:extLst>
      <p:ext uri="{BB962C8B-B14F-4D97-AF65-F5344CB8AC3E}">
        <p14:creationId xmlns:p14="http://schemas.microsoft.com/office/powerpoint/2010/main" val="426382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E52A7C6-9CFD-4623-A175-2C0600BFBB0C}" type="slidenum">
              <a:rPr lang="en-US" smtClean="0"/>
              <a:t>1</a:t>
            </a:fld>
            <a:endParaRPr lang="en-US"/>
          </a:p>
        </p:txBody>
      </p:sp>
    </p:spTree>
    <p:extLst>
      <p:ext uri="{BB962C8B-B14F-4D97-AF65-F5344CB8AC3E}">
        <p14:creationId xmlns:p14="http://schemas.microsoft.com/office/powerpoint/2010/main" val="2168427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4D84B1F-D746-4DEB-BB2E-1F77F6EF57D2}" type="datetime1">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644290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FA007C-BE8D-4192-B669-7703A81CA1A1}" type="datetime1">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1882718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136931F-985C-4E48-8F84-C32C4A6F1F7B}" type="datetime1">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2672118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74CBB97-CED3-420A-B8C1-D3F1092443B4}" type="datetime1">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81042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3C44375-B716-4CE6-BDF2-E2AE15DF335C}" type="datetime1">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308222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497C3F6-6F1C-4ACE-8A28-E124A2DDA00C}" type="datetime1">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755730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6BA609-2580-4784-A214-7FEC5C1CACBE}" type="datetime1">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9554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1B7FED-1577-4557-AC49-6F8BC9935296}" type="datetime1">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029476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451FD4-3F6A-4D6B-A53C-D029D766D699}" type="datetime1">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4048858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13296FA-DB7A-41AC-B46C-0D1C5154460F}" type="datetime1">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262608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F1A949-F300-4156-BC20-07E6A980E1BB}" type="datetime1">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14364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B5178-3F03-47D6-8424-F40A4FF786A9}" type="datetime1">
              <a:rPr lang="en-US" smtClean="0"/>
              <a:t>12/13/2025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82BB2-895A-450F-BFAC-E0B35E2C98B2}" type="slidenum">
              <a:rPr lang="en-US" smtClean="0"/>
              <a:t>‹#›</a:t>
            </a:fld>
            <a:endParaRPr lang="en-US"/>
          </a:p>
        </p:txBody>
      </p:sp>
    </p:spTree>
    <p:extLst>
      <p:ext uri="{BB962C8B-B14F-4D97-AF65-F5344CB8AC3E}">
        <p14:creationId xmlns:p14="http://schemas.microsoft.com/office/powerpoint/2010/main" val="3273347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mmaryasser49/arabic-sentiment-analysis-arabert.git"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huggingface.co/aubmindlab/bert-base-arabertv2"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590" y="306895"/>
            <a:ext cx="1335186" cy="106289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5767" y="254900"/>
            <a:ext cx="1568669" cy="1166884"/>
          </a:xfrm>
          <a:prstGeom prst="rect">
            <a:avLst/>
          </a:prstGeom>
        </p:spPr>
      </p:pic>
      <p:sp>
        <p:nvSpPr>
          <p:cNvPr id="6" name="TextBox 5"/>
          <p:cNvSpPr txBox="1"/>
          <p:nvPr/>
        </p:nvSpPr>
        <p:spPr>
          <a:xfrm>
            <a:off x="3361464" y="2143799"/>
            <a:ext cx="5632812" cy="1107996"/>
          </a:xfrm>
          <a:prstGeom prst="rect">
            <a:avLst/>
          </a:prstGeom>
          <a:noFill/>
        </p:spPr>
        <p:txBody>
          <a:bodyPr wrap="square" rtlCol="0">
            <a:spAutoFit/>
          </a:bodyPr>
          <a:lstStyle/>
          <a:p>
            <a:pPr algn="ctr"/>
            <a:r>
              <a:rPr lang="en-US" sz="6600" b="1" dirty="0" smtClean="0"/>
              <a:t>ELE 265:NLP</a:t>
            </a:r>
            <a:endParaRPr lang="en-US" sz="6600" b="1" dirty="0"/>
          </a:p>
        </p:txBody>
      </p:sp>
      <p:sp>
        <p:nvSpPr>
          <p:cNvPr id="11" name="TextBox 10"/>
          <p:cNvSpPr txBox="1"/>
          <p:nvPr/>
        </p:nvSpPr>
        <p:spPr>
          <a:xfrm>
            <a:off x="1650776" y="607509"/>
            <a:ext cx="9054192" cy="461665"/>
          </a:xfrm>
          <a:prstGeom prst="rect">
            <a:avLst/>
          </a:prstGeom>
          <a:noFill/>
        </p:spPr>
        <p:txBody>
          <a:bodyPr wrap="square" rtlCol="0">
            <a:spAutoFit/>
          </a:bodyPr>
          <a:lstStyle/>
          <a:p>
            <a:pPr algn="ctr"/>
            <a:r>
              <a:rPr lang="en-US" sz="2400" b="1" dirty="0" smtClean="0"/>
              <a:t>Faculty of Engineering -New Ismailia National </a:t>
            </a:r>
            <a:r>
              <a:rPr lang="en-US" sz="2400" b="1" dirty="0"/>
              <a:t>U</a:t>
            </a:r>
            <a:r>
              <a:rPr lang="en-US" sz="2400" b="1" dirty="0" smtClean="0"/>
              <a:t>niversity</a:t>
            </a:r>
            <a:endParaRPr lang="en-US" sz="2400" b="1" dirty="0"/>
          </a:p>
        </p:txBody>
      </p:sp>
      <p:sp>
        <p:nvSpPr>
          <p:cNvPr id="17" name="Rectangle 16"/>
          <p:cNvSpPr/>
          <p:nvPr/>
        </p:nvSpPr>
        <p:spPr>
          <a:xfrm>
            <a:off x="4284335" y="3284694"/>
            <a:ext cx="378707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1650774" y="4691896"/>
            <a:ext cx="9054192" cy="17585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1650774" y="5278792"/>
            <a:ext cx="9054192" cy="584775"/>
          </a:xfrm>
          <a:prstGeom prst="rect">
            <a:avLst/>
          </a:prstGeom>
          <a:noFill/>
        </p:spPr>
        <p:txBody>
          <a:bodyPr wrap="square" rtlCol="0">
            <a:spAutoFit/>
          </a:bodyPr>
          <a:lstStyle/>
          <a:p>
            <a:pPr algn="ctr"/>
            <a:r>
              <a:rPr lang="en-US" sz="3200" b="1" dirty="0" smtClean="0"/>
              <a:t>Arabic Sentiment Analysis</a:t>
            </a:r>
            <a:endParaRPr lang="en-US" sz="3200" b="1" dirty="0"/>
          </a:p>
        </p:txBody>
      </p:sp>
      <p:sp>
        <p:nvSpPr>
          <p:cNvPr id="21" name="TextBox 20"/>
          <p:cNvSpPr txBox="1"/>
          <p:nvPr/>
        </p:nvSpPr>
        <p:spPr>
          <a:xfrm>
            <a:off x="4304563" y="3440255"/>
            <a:ext cx="3746613" cy="954107"/>
          </a:xfrm>
          <a:prstGeom prst="rect">
            <a:avLst/>
          </a:prstGeom>
          <a:noFill/>
        </p:spPr>
        <p:txBody>
          <a:bodyPr wrap="square" rtlCol="0">
            <a:spAutoFit/>
          </a:bodyPr>
          <a:lstStyle/>
          <a:p>
            <a:pPr algn="ctr"/>
            <a:r>
              <a:rPr lang="en-US" sz="2800" b="1" dirty="0" smtClean="0"/>
              <a:t>Natural language processing</a:t>
            </a:r>
            <a:endParaRPr lang="en-US" sz="2800" b="1" dirty="0"/>
          </a:p>
        </p:txBody>
      </p:sp>
    </p:spTree>
    <p:extLst>
      <p:ext uri="{BB962C8B-B14F-4D97-AF65-F5344CB8AC3E}">
        <p14:creationId xmlns:p14="http://schemas.microsoft.com/office/powerpoint/2010/main" val="768966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 Diagonal Corner Rectangle 25"/>
          <p:cNvSpPr/>
          <p:nvPr/>
        </p:nvSpPr>
        <p:spPr>
          <a:xfrm>
            <a:off x="8229601" y="4841960"/>
            <a:ext cx="3665691"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7" name="Round Diagonal Corner Rectangle 26"/>
          <p:cNvSpPr/>
          <p:nvPr/>
        </p:nvSpPr>
        <p:spPr>
          <a:xfrm>
            <a:off x="364145" y="4841960"/>
            <a:ext cx="3665688"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ound Diagonal Corner Rectangle 23"/>
          <p:cNvSpPr/>
          <p:nvPr/>
        </p:nvSpPr>
        <p:spPr>
          <a:xfrm>
            <a:off x="4296872" y="3485021"/>
            <a:ext cx="3665690"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Round Diagonal Corner Rectangle 24"/>
          <p:cNvSpPr/>
          <p:nvPr/>
        </p:nvSpPr>
        <p:spPr>
          <a:xfrm>
            <a:off x="8229601" y="3469830"/>
            <a:ext cx="3665691"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2" name="Round Diagonal Corner Rectangle 21"/>
          <p:cNvSpPr/>
          <p:nvPr/>
        </p:nvSpPr>
        <p:spPr>
          <a:xfrm>
            <a:off x="8229601" y="2043593"/>
            <a:ext cx="3665691"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Round Diagonal Corner Rectangle 20"/>
          <p:cNvSpPr/>
          <p:nvPr/>
        </p:nvSpPr>
        <p:spPr>
          <a:xfrm>
            <a:off x="4296872" y="2034160"/>
            <a:ext cx="3665691"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3" name="Round Diagonal Corner Rectangle 22"/>
          <p:cNvSpPr/>
          <p:nvPr/>
        </p:nvSpPr>
        <p:spPr>
          <a:xfrm>
            <a:off x="364144" y="3482933"/>
            <a:ext cx="3665690"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Round Diagonal Corner Rectangle 19"/>
          <p:cNvSpPr/>
          <p:nvPr/>
        </p:nvSpPr>
        <p:spPr>
          <a:xfrm>
            <a:off x="364144" y="2034160"/>
            <a:ext cx="3665690"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2</a:t>
            </a:fld>
            <a:endParaRPr lang="en-US"/>
          </a:p>
        </p:txBody>
      </p:sp>
      <p:sp>
        <p:nvSpPr>
          <p:cNvPr id="4" name="TextBox 3"/>
          <p:cNvSpPr txBox="1"/>
          <p:nvPr/>
        </p:nvSpPr>
        <p:spPr>
          <a:xfrm>
            <a:off x="614995" y="364142"/>
            <a:ext cx="5300283" cy="584775"/>
          </a:xfrm>
          <a:prstGeom prst="rect">
            <a:avLst/>
          </a:prstGeom>
          <a:noFill/>
        </p:spPr>
        <p:txBody>
          <a:bodyPr wrap="square" rtlCol="0">
            <a:spAutoFit/>
          </a:bodyPr>
          <a:lstStyle/>
          <a:p>
            <a:r>
              <a:rPr lang="en-US" sz="3200" b="1" dirty="0" smtClean="0"/>
              <a:t>Presented by</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64144" y="2169419"/>
            <a:ext cx="3665690" cy="400110"/>
          </a:xfrm>
          <a:prstGeom prst="rect">
            <a:avLst/>
          </a:prstGeom>
          <a:noFill/>
        </p:spPr>
        <p:txBody>
          <a:bodyPr wrap="square" rtlCol="0">
            <a:spAutoFit/>
          </a:bodyPr>
          <a:lstStyle/>
          <a:p>
            <a:pPr algn="ctr"/>
            <a:r>
              <a:rPr lang="en-US" sz="2000" b="1" dirty="0" err="1" smtClean="0"/>
              <a:t>Ammar</a:t>
            </a:r>
            <a:r>
              <a:rPr lang="en-US" sz="2000" b="1" dirty="0" smtClean="0"/>
              <a:t> Yasser Mohamed </a:t>
            </a:r>
          </a:p>
        </p:txBody>
      </p:sp>
      <p:sp>
        <p:nvSpPr>
          <p:cNvPr id="11" name="TextBox 10"/>
          <p:cNvSpPr txBox="1"/>
          <p:nvPr/>
        </p:nvSpPr>
        <p:spPr>
          <a:xfrm>
            <a:off x="4296871" y="2153561"/>
            <a:ext cx="3665691" cy="400110"/>
          </a:xfrm>
          <a:prstGeom prst="rect">
            <a:avLst/>
          </a:prstGeom>
          <a:noFill/>
        </p:spPr>
        <p:txBody>
          <a:bodyPr wrap="square" rtlCol="0">
            <a:spAutoFit/>
          </a:bodyPr>
          <a:lstStyle/>
          <a:p>
            <a:pPr algn="ctr"/>
            <a:r>
              <a:rPr lang="en-US" sz="2000" b="1" dirty="0" smtClean="0"/>
              <a:t>Ali Mohamed Ali </a:t>
            </a:r>
            <a:r>
              <a:rPr lang="en-US" sz="2000" b="1" dirty="0" err="1" smtClean="0"/>
              <a:t>Elrawy</a:t>
            </a:r>
            <a:endParaRPr lang="en-US" sz="2000" b="1" dirty="0" smtClean="0"/>
          </a:p>
        </p:txBody>
      </p:sp>
      <p:sp>
        <p:nvSpPr>
          <p:cNvPr id="12" name="TextBox 11"/>
          <p:cNvSpPr txBox="1"/>
          <p:nvPr/>
        </p:nvSpPr>
        <p:spPr>
          <a:xfrm>
            <a:off x="8229602" y="2159687"/>
            <a:ext cx="3665690" cy="400110"/>
          </a:xfrm>
          <a:prstGeom prst="rect">
            <a:avLst/>
          </a:prstGeom>
          <a:noFill/>
        </p:spPr>
        <p:txBody>
          <a:bodyPr wrap="square" rtlCol="0">
            <a:spAutoFit/>
          </a:bodyPr>
          <a:lstStyle/>
          <a:p>
            <a:pPr algn="ctr"/>
            <a:r>
              <a:rPr lang="en-US" sz="2000" b="1" dirty="0" smtClean="0"/>
              <a:t>Hassan Mohamed Hassan </a:t>
            </a:r>
          </a:p>
        </p:txBody>
      </p:sp>
      <p:sp>
        <p:nvSpPr>
          <p:cNvPr id="13" name="TextBox 12"/>
          <p:cNvSpPr txBox="1"/>
          <p:nvPr/>
        </p:nvSpPr>
        <p:spPr>
          <a:xfrm>
            <a:off x="364143" y="4964326"/>
            <a:ext cx="3665689" cy="400110"/>
          </a:xfrm>
          <a:prstGeom prst="rect">
            <a:avLst/>
          </a:prstGeom>
          <a:noFill/>
        </p:spPr>
        <p:txBody>
          <a:bodyPr wrap="square" rtlCol="0">
            <a:spAutoFit/>
          </a:bodyPr>
          <a:lstStyle/>
          <a:p>
            <a:pPr algn="ctr"/>
            <a:r>
              <a:rPr lang="en-US" sz="2000" b="1" dirty="0" smtClean="0"/>
              <a:t>Ahmed </a:t>
            </a:r>
            <a:r>
              <a:rPr lang="en-US" sz="2000" b="1" dirty="0" err="1" smtClean="0"/>
              <a:t>Mostafa</a:t>
            </a:r>
            <a:r>
              <a:rPr lang="en-US" sz="2000" b="1" dirty="0" smtClean="0"/>
              <a:t> Hassan </a:t>
            </a:r>
          </a:p>
        </p:txBody>
      </p:sp>
      <p:sp>
        <p:nvSpPr>
          <p:cNvPr id="14" name="TextBox 13"/>
          <p:cNvSpPr txBox="1"/>
          <p:nvPr/>
        </p:nvSpPr>
        <p:spPr>
          <a:xfrm>
            <a:off x="364144" y="3584831"/>
            <a:ext cx="3665689" cy="400110"/>
          </a:xfrm>
          <a:prstGeom prst="rect">
            <a:avLst/>
          </a:prstGeom>
          <a:noFill/>
        </p:spPr>
        <p:txBody>
          <a:bodyPr wrap="square" rtlCol="0">
            <a:spAutoFit/>
          </a:bodyPr>
          <a:lstStyle/>
          <a:p>
            <a:pPr algn="ctr"/>
            <a:r>
              <a:rPr lang="en-US" sz="2000" b="1" dirty="0" err="1" smtClean="0"/>
              <a:t>Ziad</a:t>
            </a:r>
            <a:r>
              <a:rPr lang="en-US" sz="2000" b="1" dirty="0" smtClean="0"/>
              <a:t> Ahmed </a:t>
            </a:r>
            <a:r>
              <a:rPr lang="en-US" sz="2000" b="1" dirty="0" err="1" smtClean="0"/>
              <a:t>Ezzat</a:t>
            </a:r>
            <a:endParaRPr lang="en-US" sz="2000" b="1" dirty="0" smtClean="0"/>
          </a:p>
        </p:txBody>
      </p:sp>
      <p:sp>
        <p:nvSpPr>
          <p:cNvPr id="16" name="TextBox 15"/>
          <p:cNvSpPr txBox="1"/>
          <p:nvPr/>
        </p:nvSpPr>
        <p:spPr>
          <a:xfrm>
            <a:off x="4511309" y="3607387"/>
            <a:ext cx="3342010" cy="400110"/>
          </a:xfrm>
          <a:prstGeom prst="rect">
            <a:avLst/>
          </a:prstGeom>
          <a:noFill/>
        </p:spPr>
        <p:txBody>
          <a:bodyPr wrap="square" rtlCol="0">
            <a:spAutoFit/>
          </a:bodyPr>
          <a:lstStyle/>
          <a:p>
            <a:pPr algn="ctr"/>
            <a:r>
              <a:rPr lang="en-US" sz="2000" b="1" dirty="0" smtClean="0"/>
              <a:t>Omar Mohamed </a:t>
            </a:r>
            <a:r>
              <a:rPr lang="en-US" sz="2000" b="1" dirty="0" err="1" smtClean="0"/>
              <a:t>Abdelhakem</a:t>
            </a:r>
            <a:r>
              <a:rPr lang="en-US" sz="2000" b="1" dirty="0" smtClean="0"/>
              <a:t> </a:t>
            </a:r>
          </a:p>
        </p:txBody>
      </p:sp>
      <p:sp>
        <p:nvSpPr>
          <p:cNvPr id="18" name="TextBox 17"/>
          <p:cNvSpPr txBox="1"/>
          <p:nvPr/>
        </p:nvSpPr>
        <p:spPr>
          <a:xfrm>
            <a:off x="8229601" y="3584831"/>
            <a:ext cx="3665691" cy="400110"/>
          </a:xfrm>
          <a:prstGeom prst="rect">
            <a:avLst/>
          </a:prstGeom>
          <a:noFill/>
        </p:spPr>
        <p:txBody>
          <a:bodyPr wrap="square" rtlCol="0">
            <a:spAutoFit/>
          </a:bodyPr>
          <a:lstStyle/>
          <a:p>
            <a:pPr algn="ctr"/>
            <a:r>
              <a:rPr lang="en-US" sz="2000" b="1" dirty="0" smtClean="0"/>
              <a:t>Ahmed Mohamed </a:t>
            </a:r>
            <a:r>
              <a:rPr lang="en-US" sz="2000" b="1" dirty="0" err="1" smtClean="0"/>
              <a:t>Abdelmoniem</a:t>
            </a:r>
            <a:endParaRPr lang="en-US" sz="2000" b="1" dirty="0" smtClean="0"/>
          </a:p>
        </p:txBody>
      </p:sp>
      <p:sp>
        <p:nvSpPr>
          <p:cNvPr id="19" name="TextBox 18"/>
          <p:cNvSpPr txBox="1"/>
          <p:nvPr/>
        </p:nvSpPr>
        <p:spPr>
          <a:xfrm>
            <a:off x="8229601" y="4939466"/>
            <a:ext cx="3665691" cy="400110"/>
          </a:xfrm>
          <a:prstGeom prst="rect">
            <a:avLst/>
          </a:prstGeom>
          <a:noFill/>
        </p:spPr>
        <p:txBody>
          <a:bodyPr wrap="square" rtlCol="0">
            <a:spAutoFit/>
          </a:bodyPr>
          <a:lstStyle/>
          <a:p>
            <a:pPr algn="ctr"/>
            <a:r>
              <a:rPr lang="en-US" sz="2000" b="1" dirty="0" err="1" smtClean="0"/>
              <a:t>Abdelrahman</a:t>
            </a:r>
            <a:r>
              <a:rPr lang="en-US" sz="2000" b="1" dirty="0" smtClean="0"/>
              <a:t> Ibrahim </a:t>
            </a:r>
            <a:r>
              <a:rPr lang="en-US" sz="2000" b="1" dirty="0" err="1" smtClean="0"/>
              <a:t>Abdalah</a:t>
            </a:r>
            <a:r>
              <a:rPr lang="en-US" sz="2000" b="1" dirty="0" smtClean="0"/>
              <a:t> </a:t>
            </a:r>
          </a:p>
        </p:txBody>
      </p:sp>
      <p:sp>
        <p:nvSpPr>
          <p:cNvPr id="28" name="Round Diagonal Corner Rectangle 27"/>
          <p:cNvSpPr/>
          <p:nvPr/>
        </p:nvSpPr>
        <p:spPr>
          <a:xfrm>
            <a:off x="4296872" y="4841960"/>
            <a:ext cx="3665690"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9" name="TextBox 28"/>
          <p:cNvSpPr txBox="1"/>
          <p:nvPr/>
        </p:nvSpPr>
        <p:spPr>
          <a:xfrm>
            <a:off x="4296871" y="4941453"/>
            <a:ext cx="3665691" cy="400110"/>
          </a:xfrm>
          <a:prstGeom prst="rect">
            <a:avLst/>
          </a:prstGeom>
          <a:noFill/>
        </p:spPr>
        <p:txBody>
          <a:bodyPr wrap="square" rtlCol="0">
            <a:spAutoFit/>
          </a:bodyPr>
          <a:lstStyle/>
          <a:p>
            <a:pPr algn="ctr"/>
            <a:r>
              <a:rPr lang="en-US" sz="2000" b="1" dirty="0" err="1" smtClean="0"/>
              <a:t>Mostafa</a:t>
            </a:r>
            <a:r>
              <a:rPr lang="en-US" sz="2000" b="1" dirty="0" smtClean="0"/>
              <a:t> Mohamed </a:t>
            </a:r>
            <a:r>
              <a:rPr lang="en-US" sz="2000" b="1" dirty="0" err="1"/>
              <a:t>A</a:t>
            </a:r>
            <a:r>
              <a:rPr lang="en-US" sz="2000" b="1" dirty="0" err="1" smtClean="0"/>
              <a:t>blellatef</a:t>
            </a:r>
            <a:endParaRPr lang="en-US" sz="2000" b="1" dirty="0" smtClean="0"/>
          </a:p>
        </p:txBody>
      </p:sp>
    </p:spTree>
    <p:extLst>
      <p:ext uri="{BB962C8B-B14F-4D97-AF65-F5344CB8AC3E}">
        <p14:creationId xmlns:p14="http://schemas.microsoft.com/office/powerpoint/2010/main" val="4282375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anim calcmode="lin" valueType="num">
                                      <p:cBhvr>
                                        <p:cTn id="68" dur="1000" fill="hold"/>
                                        <p:tgtEl>
                                          <p:spTgt spid="22"/>
                                        </p:tgtEl>
                                        <p:attrNameLst>
                                          <p:attrName>ppt_x</p:attrName>
                                        </p:attrNameLst>
                                      </p:cBhvr>
                                      <p:tavLst>
                                        <p:tav tm="0">
                                          <p:val>
                                            <p:strVal val="#ppt_x"/>
                                          </p:val>
                                        </p:tav>
                                        <p:tav tm="100000">
                                          <p:val>
                                            <p:strVal val="#ppt_x"/>
                                          </p:val>
                                        </p:tav>
                                      </p:tavLst>
                                    </p:anim>
                                    <p:anim calcmode="lin" valueType="num">
                                      <p:cBhvr>
                                        <p:cTn id="69" dur="1000" fill="hold"/>
                                        <p:tgtEl>
                                          <p:spTgt spid="2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1000"/>
                                        <p:tgtEl>
                                          <p:spTgt spid="21"/>
                                        </p:tgtEl>
                                      </p:cBhvr>
                                    </p:animEffect>
                                    <p:anim calcmode="lin" valueType="num">
                                      <p:cBhvr>
                                        <p:cTn id="73" dur="1000" fill="hold"/>
                                        <p:tgtEl>
                                          <p:spTgt spid="21"/>
                                        </p:tgtEl>
                                        <p:attrNameLst>
                                          <p:attrName>ppt_x</p:attrName>
                                        </p:attrNameLst>
                                      </p:cBhvr>
                                      <p:tavLst>
                                        <p:tav tm="0">
                                          <p:val>
                                            <p:strVal val="#ppt_x"/>
                                          </p:val>
                                        </p:tav>
                                        <p:tav tm="100000">
                                          <p:val>
                                            <p:strVal val="#ppt_x"/>
                                          </p:val>
                                        </p:tav>
                                      </p:tavLst>
                                    </p:anim>
                                    <p:anim calcmode="lin" valueType="num">
                                      <p:cBhvr>
                                        <p:cTn id="74" dur="1000" fill="hold"/>
                                        <p:tgtEl>
                                          <p:spTgt spid="2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1000"/>
                                        <p:tgtEl>
                                          <p:spTgt spid="23"/>
                                        </p:tgtEl>
                                      </p:cBhvr>
                                    </p:animEffect>
                                    <p:anim calcmode="lin" valueType="num">
                                      <p:cBhvr>
                                        <p:cTn id="78" dur="1000" fill="hold"/>
                                        <p:tgtEl>
                                          <p:spTgt spid="23"/>
                                        </p:tgtEl>
                                        <p:attrNameLst>
                                          <p:attrName>ppt_x</p:attrName>
                                        </p:attrNameLst>
                                      </p:cBhvr>
                                      <p:tavLst>
                                        <p:tav tm="0">
                                          <p:val>
                                            <p:strVal val="#ppt_x"/>
                                          </p:val>
                                        </p:tav>
                                        <p:tav tm="100000">
                                          <p:val>
                                            <p:strVal val="#ppt_x"/>
                                          </p:val>
                                        </p:tav>
                                      </p:tavLst>
                                    </p:anim>
                                    <p:anim calcmode="lin" valueType="num">
                                      <p:cBhvr>
                                        <p:cTn id="79" dur="1000" fill="hold"/>
                                        <p:tgtEl>
                                          <p:spTgt spid="2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000"/>
                                        <p:tgtEl>
                                          <p:spTgt spid="20"/>
                                        </p:tgtEl>
                                      </p:cBhvr>
                                    </p:animEffect>
                                    <p:anim calcmode="lin" valueType="num">
                                      <p:cBhvr>
                                        <p:cTn id="83" dur="1000" fill="hold"/>
                                        <p:tgtEl>
                                          <p:spTgt spid="20"/>
                                        </p:tgtEl>
                                        <p:attrNameLst>
                                          <p:attrName>ppt_x</p:attrName>
                                        </p:attrNameLst>
                                      </p:cBhvr>
                                      <p:tavLst>
                                        <p:tav tm="0">
                                          <p:val>
                                            <p:strVal val="#ppt_x"/>
                                          </p:val>
                                        </p:tav>
                                        <p:tav tm="100000">
                                          <p:val>
                                            <p:strVal val="#ppt_x"/>
                                          </p:val>
                                        </p:tav>
                                      </p:tavLst>
                                    </p:anim>
                                    <p:anim calcmode="lin" valueType="num">
                                      <p:cBhvr>
                                        <p:cTn id="84" dur="10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1000"/>
                                        <p:tgtEl>
                                          <p:spTgt spid="29"/>
                                        </p:tgtEl>
                                      </p:cBhvr>
                                    </p:animEffect>
                                    <p:anim calcmode="lin" valueType="num">
                                      <p:cBhvr>
                                        <p:cTn id="88" dur="1000" fill="hold"/>
                                        <p:tgtEl>
                                          <p:spTgt spid="29"/>
                                        </p:tgtEl>
                                        <p:attrNameLst>
                                          <p:attrName>ppt_x</p:attrName>
                                        </p:attrNameLst>
                                      </p:cBhvr>
                                      <p:tavLst>
                                        <p:tav tm="0">
                                          <p:val>
                                            <p:strVal val="#ppt_x"/>
                                          </p:val>
                                        </p:tav>
                                        <p:tav tm="100000">
                                          <p:val>
                                            <p:strVal val="#ppt_x"/>
                                          </p:val>
                                        </p:tav>
                                      </p:tavLst>
                                    </p:anim>
                                    <p:anim calcmode="lin" valueType="num">
                                      <p:cBhvr>
                                        <p:cTn id="89" dur="1000" fill="hold"/>
                                        <p:tgtEl>
                                          <p:spTgt spid="2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4" grpId="0" animBg="1"/>
      <p:bldP spid="25" grpId="0" animBg="1"/>
      <p:bldP spid="22" grpId="0" animBg="1"/>
      <p:bldP spid="21" grpId="0" animBg="1"/>
      <p:bldP spid="23" grpId="0" animBg="1"/>
      <p:bldP spid="20" grpId="0" animBg="1"/>
      <p:bldP spid="10" grpId="0"/>
      <p:bldP spid="11" grpId="0"/>
      <p:bldP spid="12" grpId="0"/>
      <p:bldP spid="13" grpId="0"/>
      <p:bldP spid="14" grpId="0"/>
      <p:bldP spid="16" grpId="0"/>
      <p:bldP spid="18" grpId="0"/>
      <p:bldP spid="19" grpId="0"/>
      <p:bldP spid="28" grpId="0" animBg="1"/>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a:xfrm>
            <a:off x="2829880" y="2181441"/>
            <a:ext cx="6170796" cy="307635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3</a:t>
            </a:fld>
            <a:endParaRPr lang="en-US"/>
          </a:p>
        </p:txBody>
      </p:sp>
      <p:sp>
        <p:nvSpPr>
          <p:cNvPr id="4" name="TextBox 3"/>
          <p:cNvSpPr txBox="1"/>
          <p:nvPr/>
        </p:nvSpPr>
        <p:spPr>
          <a:xfrm>
            <a:off x="614995" y="364142"/>
            <a:ext cx="5300283" cy="584775"/>
          </a:xfrm>
          <a:prstGeom prst="rect">
            <a:avLst/>
          </a:prstGeom>
          <a:noFill/>
        </p:spPr>
        <p:txBody>
          <a:bodyPr wrap="square" rtlCol="0">
            <a:spAutoFit/>
          </a:bodyPr>
          <a:lstStyle/>
          <a:p>
            <a:r>
              <a:rPr lang="en-US" sz="3200" b="1" dirty="0"/>
              <a:t>Contents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829881" y="2338299"/>
            <a:ext cx="6170796" cy="2800767"/>
          </a:xfrm>
          <a:prstGeom prst="rect">
            <a:avLst/>
          </a:prstGeom>
          <a:noFill/>
        </p:spPr>
        <p:txBody>
          <a:bodyPr wrap="square" rtlCol="1">
            <a:spAutoFit/>
          </a:bodyPr>
          <a:lstStyle/>
          <a:p>
            <a:pPr marL="285750" indent="-285750">
              <a:buFont typeface="Arial" panose="020B0604020202020204" pitchFamily="34" charset="0"/>
              <a:buChar char="•"/>
            </a:pPr>
            <a:r>
              <a:rPr lang="en-US" sz="2200" dirty="0"/>
              <a:t>Introduction and motivation of the project</a:t>
            </a:r>
            <a:r>
              <a:rPr lang="en-US" sz="2200" dirty="0" smtClean="0"/>
              <a:t>.</a:t>
            </a:r>
          </a:p>
          <a:p>
            <a:pPr marL="285750" indent="-285750">
              <a:buFont typeface="Arial" panose="020B0604020202020204" pitchFamily="34" charset="0"/>
              <a:buChar char="•"/>
            </a:pPr>
            <a:r>
              <a:rPr lang="en-US" sz="2200" dirty="0"/>
              <a:t>Related work in Arabic sentiment analysis</a:t>
            </a:r>
            <a:r>
              <a:rPr lang="en-US" sz="2200" dirty="0" smtClean="0"/>
              <a:t>.</a:t>
            </a:r>
          </a:p>
          <a:p>
            <a:pPr marL="285750" indent="-285750">
              <a:buFont typeface="Arial" panose="020B0604020202020204" pitchFamily="34" charset="0"/>
              <a:buChar char="•"/>
            </a:pPr>
            <a:r>
              <a:rPr lang="en-US" sz="2200" dirty="0"/>
              <a:t>Dataset description and preprocessing steps</a:t>
            </a:r>
            <a:r>
              <a:rPr lang="en-US" sz="2200" dirty="0" smtClean="0"/>
              <a:t>.</a:t>
            </a:r>
          </a:p>
          <a:p>
            <a:pPr marL="285750" indent="-285750">
              <a:buFont typeface="Arial" panose="020B0604020202020204" pitchFamily="34" charset="0"/>
              <a:buChar char="•"/>
            </a:pPr>
            <a:r>
              <a:rPr lang="en-US" sz="2200" dirty="0"/>
              <a:t>Models used in this project</a:t>
            </a:r>
            <a:r>
              <a:rPr lang="en-US" sz="2200" dirty="0" smtClean="0"/>
              <a:t>.</a:t>
            </a:r>
          </a:p>
          <a:p>
            <a:pPr marL="285750" indent="-285750">
              <a:buFont typeface="Arial" panose="020B0604020202020204" pitchFamily="34" charset="0"/>
              <a:buChar char="•"/>
            </a:pPr>
            <a:r>
              <a:rPr lang="en-US" sz="2200" dirty="0"/>
              <a:t>Training and evaluation methodology</a:t>
            </a:r>
            <a:r>
              <a:rPr lang="en-US" sz="2200" dirty="0" smtClean="0"/>
              <a:t>.</a:t>
            </a:r>
          </a:p>
          <a:p>
            <a:pPr marL="285750" indent="-285750">
              <a:buFont typeface="Arial" panose="020B0604020202020204" pitchFamily="34" charset="0"/>
              <a:buChar char="•"/>
            </a:pPr>
            <a:r>
              <a:rPr lang="en-US" sz="2200" dirty="0"/>
              <a:t>Results and model comparison</a:t>
            </a:r>
            <a:r>
              <a:rPr lang="en-US" sz="2200" dirty="0" smtClean="0"/>
              <a:t>.</a:t>
            </a:r>
          </a:p>
          <a:p>
            <a:pPr marL="285750" indent="-285750">
              <a:buFont typeface="Arial" panose="020B0604020202020204" pitchFamily="34" charset="0"/>
              <a:buChar char="•"/>
            </a:pPr>
            <a:r>
              <a:rPr lang="en-US" sz="2200" dirty="0"/>
              <a:t>Challenges and future work</a:t>
            </a:r>
            <a:r>
              <a:rPr lang="en-US" sz="2200" dirty="0" smtClean="0"/>
              <a:t>.</a:t>
            </a:r>
          </a:p>
          <a:p>
            <a:pPr marL="285750" indent="-285750">
              <a:buFont typeface="Arial" panose="020B0604020202020204" pitchFamily="34" charset="0"/>
              <a:buChar char="•"/>
            </a:pPr>
            <a:r>
              <a:rPr lang="en-US" sz="2200" dirty="0"/>
              <a:t>Final conclusion</a:t>
            </a:r>
            <a:r>
              <a:rPr lang="en-US" sz="2200" dirty="0" smtClean="0"/>
              <a:t>.</a:t>
            </a:r>
            <a:endParaRPr lang="en-US" sz="2200" dirty="0"/>
          </a:p>
        </p:txBody>
      </p:sp>
    </p:spTree>
    <p:extLst>
      <p:ext uri="{BB962C8B-B14F-4D97-AF65-F5344CB8AC3E}">
        <p14:creationId xmlns:p14="http://schemas.microsoft.com/office/powerpoint/2010/main" val="18755935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p:cNvSpPr/>
          <p:nvPr/>
        </p:nvSpPr>
        <p:spPr>
          <a:xfrm>
            <a:off x="1180088" y="1691235"/>
            <a:ext cx="3932730" cy="170741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4</a:t>
            </a:fld>
            <a:endParaRPr lang="en-US"/>
          </a:p>
        </p:txBody>
      </p:sp>
      <p:sp>
        <p:nvSpPr>
          <p:cNvPr id="4" name="TextBox 3"/>
          <p:cNvSpPr txBox="1"/>
          <p:nvPr/>
        </p:nvSpPr>
        <p:spPr>
          <a:xfrm>
            <a:off x="614994" y="364142"/>
            <a:ext cx="9548602" cy="584775"/>
          </a:xfrm>
          <a:prstGeom prst="rect">
            <a:avLst/>
          </a:prstGeom>
          <a:noFill/>
        </p:spPr>
        <p:txBody>
          <a:bodyPr wrap="square" rtlCol="0">
            <a:spAutoFit/>
          </a:bodyPr>
          <a:lstStyle/>
          <a:p>
            <a:r>
              <a:rPr lang="en-US" sz="3200" b="1" dirty="0" smtClean="0"/>
              <a:t>Why We Chose Arabic Sentiment Analysis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180088" y="4418251"/>
            <a:ext cx="3932730" cy="170741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4" name="Rounded Rectangle 33"/>
          <p:cNvSpPr/>
          <p:nvPr/>
        </p:nvSpPr>
        <p:spPr>
          <a:xfrm>
            <a:off x="6883625" y="4418251"/>
            <a:ext cx="3932730" cy="170741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5" name="Rounded Rectangle 34"/>
          <p:cNvSpPr/>
          <p:nvPr/>
        </p:nvSpPr>
        <p:spPr>
          <a:xfrm>
            <a:off x="6883625" y="1684259"/>
            <a:ext cx="3932730" cy="170741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6" name="TextBox 35"/>
          <p:cNvSpPr txBox="1"/>
          <p:nvPr/>
        </p:nvSpPr>
        <p:spPr>
          <a:xfrm>
            <a:off x="1180088" y="1806280"/>
            <a:ext cx="3932730" cy="1477328"/>
          </a:xfrm>
          <a:prstGeom prst="rect">
            <a:avLst/>
          </a:prstGeom>
          <a:noFill/>
        </p:spPr>
        <p:txBody>
          <a:bodyPr wrap="square" rtlCol="0">
            <a:spAutoFit/>
          </a:bodyPr>
          <a:lstStyle/>
          <a:p>
            <a:pPr algn="ctr"/>
            <a:r>
              <a:rPr lang="en-US" b="1" dirty="0" smtClean="0"/>
              <a:t>High Business &amp; Social Value</a:t>
            </a:r>
            <a:endParaRPr lang="en-US" dirty="0" smtClean="0"/>
          </a:p>
          <a:p>
            <a:pPr algn="ctr"/>
            <a:r>
              <a:rPr lang="en-US" dirty="0" smtClean="0"/>
              <a:t>It solves the critical need for automated monitoring of public opinion on social media regarding brands, events, and services.</a:t>
            </a:r>
            <a:endParaRPr lang="en-US" dirty="0"/>
          </a:p>
        </p:txBody>
      </p:sp>
      <p:sp>
        <p:nvSpPr>
          <p:cNvPr id="37" name="TextBox 36"/>
          <p:cNvSpPr txBox="1"/>
          <p:nvPr/>
        </p:nvSpPr>
        <p:spPr>
          <a:xfrm>
            <a:off x="6883625" y="1806280"/>
            <a:ext cx="3932730" cy="1477328"/>
          </a:xfrm>
          <a:prstGeom prst="rect">
            <a:avLst/>
          </a:prstGeom>
          <a:noFill/>
        </p:spPr>
        <p:txBody>
          <a:bodyPr wrap="square" rtlCol="0">
            <a:spAutoFit/>
          </a:bodyPr>
          <a:lstStyle/>
          <a:p>
            <a:pPr algn="ctr"/>
            <a:r>
              <a:rPr lang="en-US" b="1" dirty="0" smtClean="0"/>
              <a:t>Complex Linguistic Structure</a:t>
            </a:r>
            <a:endParaRPr lang="en-US" dirty="0" smtClean="0"/>
          </a:p>
          <a:p>
            <a:pPr algn="ctr"/>
            <a:r>
              <a:rPr lang="en-US" dirty="0" smtClean="0"/>
              <a:t>Arabic is morphologically rich and often written without diacritics, making it significantly harder for computers to process than English.</a:t>
            </a:r>
            <a:endParaRPr lang="en-US" dirty="0"/>
          </a:p>
        </p:txBody>
      </p:sp>
      <p:sp>
        <p:nvSpPr>
          <p:cNvPr id="38" name="TextBox 37"/>
          <p:cNvSpPr txBox="1"/>
          <p:nvPr/>
        </p:nvSpPr>
        <p:spPr>
          <a:xfrm>
            <a:off x="1180088" y="4533296"/>
            <a:ext cx="3932730" cy="1477328"/>
          </a:xfrm>
          <a:prstGeom prst="rect">
            <a:avLst/>
          </a:prstGeom>
          <a:noFill/>
        </p:spPr>
        <p:txBody>
          <a:bodyPr wrap="square" rtlCol="0">
            <a:spAutoFit/>
          </a:bodyPr>
          <a:lstStyle/>
          <a:p>
            <a:pPr algn="ctr"/>
            <a:r>
              <a:rPr lang="en-US" b="1" dirty="0" smtClean="0"/>
              <a:t>The Challenge of Dialects</a:t>
            </a:r>
            <a:endParaRPr lang="en-US" dirty="0" smtClean="0"/>
          </a:p>
          <a:p>
            <a:pPr algn="ctr"/>
            <a:r>
              <a:rPr lang="en-US" dirty="0" smtClean="0"/>
              <a:t>Social media users write in informal dialects (like Egyptian or Levantine) rather than formal Arabic (MSA), causing standard tools to fail.</a:t>
            </a:r>
            <a:endParaRPr lang="en-US" dirty="0"/>
          </a:p>
        </p:txBody>
      </p:sp>
      <p:sp>
        <p:nvSpPr>
          <p:cNvPr id="39" name="TextBox 38"/>
          <p:cNvSpPr txBox="1"/>
          <p:nvPr/>
        </p:nvSpPr>
        <p:spPr>
          <a:xfrm>
            <a:off x="6883625" y="4533296"/>
            <a:ext cx="3932730" cy="1477328"/>
          </a:xfrm>
          <a:prstGeom prst="rect">
            <a:avLst/>
          </a:prstGeom>
          <a:noFill/>
        </p:spPr>
        <p:txBody>
          <a:bodyPr wrap="square" rtlCol="0">
            <a:spAutoFit/>
          </a:bodyPr>
          <a:lstStyle/>
          <a:p>
            <a:pPr algn="ctr"/>
            <a:r>
              <a:rPr lang="en-US" b="1" dirty="0" smtClean="0"/>
              <a:t>Bridging the Research Gap</a:t>
            </a:r>
            <a:endParaRPr lang="en-US" dirty="0" smtClean="0"/>
          </a:p>
          <a:p>
            <a:pPr algn="ctr"/>
            <a:r>
              <a:rPr lang="en-US" dirty="0" smtClean="0"/>
              <a:t>We aim to implement advanced Transformer-based models (</a:t>
            </a:r>
            <a:r>
              <a:rPr lang="en-US" dirty="0" err="1" smtClean="0"/>
              <a:t>AraBERT</a:t>
            </a:r>
            <a:r>
              <a:rPr lang="en-US" dirty="0" smtClean="0"/>
              <a:t>) to handle these complexities, as traditional models often yield low accuracy.</a:t>
            </a:r>
            <a:endParaRPr lang="en-US" dirty="0"/>
          </a:p>
        </p:txBody>
      </p:sp>
    </p:spTree>
    <p:extLst>
      <p:ext uri="{BB962C8B-B14F-4D97-AF65-F5344CB8AC3E}">
        <p14:creationId xmlns:p14="http://schemas.microsoft.com/office/powerpoint/2010/main" val="42761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1000"/>
                                        <p:tgtEl>
                                          <p:spTgt spid="35"/>
                                        </p:tgtEl>
                                      </p:cBhvr>
                                    </p:animEffect>
                                    <p:anim calcmode="lin" valueType="num">
                                      <p:cBhvr>
                                        <p:cTn id="20" dur="1000" fill="hold"/>
                                        <p:tgtEl>
                                          <p:spTgt spid="35"/>
                                        </p:tgtEl>
                                        <p:attrNameLst>
                                          <p:attrName>ppt_x</p:attrName>
                                        </p:attrNameLst>
                                      </p:cBhvr>
                                      <p:tavLst>
                                        <p:tav tm="0">
                                          <p:val>
                                            <p:strVal val="#ppt_x"/>
                                          </p:val>
                                        </p:tav>
                                        <p:tav tm="100000">
                                          <p:val>
                                            <p:strVal val="#ppt_x"/>
                                          </p:val>
                                        </p:tav>
                                      </p:tavLst>
                                    </p:anim>
                                    <p:anim calcmode="lin" valueType="num">
                                      <p:cBhvr>
                                        <p:cTn id="21" dur="1000" fill="hold"/>
                                        <p:tgtEl>
                                          <p:spTgt spid="3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1000"/>
                                        <p:tgtEl>
                                          <p:spTgt spid="38"/>
                                        </p:tgtEl>
                                      </p:cBhvr>
                                    </p:animEffect>
                                    <p:anim calcmode="lin" valueType="num">
                                      <p:cBhvr>
                                        <p:cTn id="37" dur="1000" fill="hold"/>
                                        <p:tgtEl>
                                          <p:spTgt spid="38"/>
                                        </p:tgtEl>
                                        <p:attrNameLst>
                                          <p:attrName>ppt_x</p:attrName>
                                        </p:attrNameLst>
                                      </p:cBhvr>
                                      <p:tavLst>
                                        <p:tav tm="0">
                                          <p:val>
                                            <p:strVal val="#ppt_x"/>
                                          </p:val>
                                        </p:tav>
                                        <p:tav tm="100000">
                                          <p:val>
                                            <p:strVal val="#ppt_x"/>
                                          </p:val>
                                        </p:tav>
                                      </p:tavLst>
                                    </p:anim>
                                    <p:anim calcmode="lin" valueType="num">
                                      <p:cBhvr>
                                        <p:cTn id="3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anim calcmode="lin" valueType="num">
                                      <p:cBhvr>
                                        <p:cTn id="44" dur="1000" fill="hold"/>
                                        <p:tgtEl>
                                          <p:spTgt spid="34"/>
                                        </p:tgtEl>
                                        <p:attrNameLst>
                                          <p:attrName>ppt_x</p:attrName>
                                        </p:attrNameLst>
                                      </p:cBhvr>
                                      <p:tavLst>
                                        <p:tav tm="0">
                                          <p:val>
                                            <p:strVal val="#ppt_x"/>
                                          </p:val>
                                        </p:tav>
                                        <p:tav tm="100000">
                                          <p:val>
                                            <p:strVal val="#ppt_x"/>
                                          </p:val>
                                        </p:tav>
                                      </p:tavLst>
                                    </p:anim>
                                    <p:anim calcmode="lin" valueType="num">
                                      <p:cBhvr>
                                        <p:cTn id="45" dur="1000" fill="hold"/>
                                        <p:tgtEl>
                                          <p:spTgt spid="3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1000"/>
                                        <p:tgtEl>
                                          <p:spTgt spid="39"/>
                                        </p:tgtEl>
                                      </p:cBhvr>
                                    </p:animEffect>
                                    <p:anim calcmode="lin" valueType="num">
                                      <p:cBhvr>
                                        <p:cTn id="49" dur="1000" fill="hold"/>
                                        <p:tgtEl>
                                          <p:spTgt spid="39"/>
                                        </p:tgtEl>
                                        <p:attrNameLst>
                                          <p:attrName>ppt_x</p:attrName>
                                        </p:attrNameLst>
                                      </p:cBhvr>
                                      <p:tavLst>
                                        <p:tav tm="0">
                                          <p:val>
                                            <p:strVal val="#ppt_x"/>
                                          </p:val>
                                        </p:tav>
                                        <p:tav tm="100000">
                                          <p:val>
                                            <p:strVal val="#ppt_x"/>
                                          </p:val>
                                        </p:tav>
                                      </p:tavLst>
                                    </p:anim>
                                    <p:anim calcmode="lin" valueType="num">
                                      <p:cBhvr>
                                        <p:cTn id="5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p:bldP spid="37" grpId="0"/>
      <p:bldP spid="38"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6819563" y="1686774"/>
            <a:ext cx="3932730" cy="1131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3" name="Rounded Rectangle 12"/>
          <p:cNvSpPr/>
          <p:nvPr/>
        </p:nvSpPr>
        <p:spPr>
          <a:xfrm>
            <a:off x="6819563" y="3162411"/>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2" name="Rounded Rectangle 31"/>
          <p:cNvSpPr/>
          <p:nvPr/>
        </p:nvSpPr>
        <p:spPr>
          <a:xfrm>
            <a:off x="1083658" y="1687766"/>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5</a:t>
            </a:fld>
            <a:endParaRPr lang="en-US"/>
          </a:p>
        </p:txBody>
      </p:sp>
      <p:sp>
        <p:nvSpPr>
          <p:cNvPr id="4" name="TextBox 3"/>
          <p:cNvSpPr txBox="1"/>
          <p:nvPr/>
        </p:nvSpPr>
        <p:spPr>
          <a:xfrm>
            <a:off x="614994" y="364142"/>
            <a:ext cx="9548602" cy="584775"/>
          </a:xfrm>
          <a:prstGeom prst="rect">
            <a:avLst/>
          </a:prstGeom>
          <a:noFill/>
        </p:spPr>
        <p:txBody>
          <a:bodyPr wrap="square" rtlCol="0">
            <a:spAutoFit/>
          </a:bodyPr>
          <a:lstStyle/>
          <a:p>
            <a:r>
              <a:rPr lang="en-US" sz="3200" b="1" dirty="0" smtClean="0"/>
              <a:t>How Our Project Pushes Arabic NLP Forward</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106585" y="3165178"/>
            <a:ext cx="3932730" cy="1131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6" name="TextBox 35"/>
          <p:cNvSpPr txBox="1"/>
          <p:nvPr/>
        </p:nvSpPr>
        <p:spPr>
          <a:xfrm>
            <a:off x="1083657" y="1806280"/>
            <a:ext cx="3955658" cy="830997"/>
          </a:xfrm>
          <a:prstGeom prst="rect">
            <a:avLst/>
          </a:prstGeom>
          <a:noFill/>
        </p:spPr>
        <p:txBody>
          <a:bodyPr wrap="square" rtlCol="0">
            <a:spAutoFit/>
          </a:bodyPr>
          <a:lstStyle/>
          <a:p>
            <a:pPr algn="ctr"/>
            <a:r>
              <a:rPr lang="en-US" sz="1600" dirty="0" smtClean="0"/>
              <a:t>We compare ML, LSTM, and </a:t>
            </a:r>
            <a:r>
              <a:rPr lang="en-US" sz="1600" dirty="0" err="1" smtClean="0"/>
              <a:t>AraBERT</a:t>
            </a:r>
            <a:r>
              <a:rPr lang="en-US" sz="1600" dirty="0" smtClean="0"/>
              <a:t> to show how modern models improve Arabic sentiment analysis</a:t>
            </a:r>
            <a:r>
              <a:rPr lang="en-US" sz="1200" dirty="0" smtClean="0"/>
              <a:t>.</a:t>
            </a:r>
            <a:endParaRPr lang="en-US" sz="1200" dirty="0"/>
          </a:p>
        </p:txBody>
      </p:sp>
      <p:sp>
        <p:nvSpPr>
          <p:cNvPr id="37" name="TextBox 36"/>
          <p:cNvSpPr txBox="1"/>
          <p:nvPr/>
        </p:nvSpPr>
        <p:spPr>
          <a:xfrm>
            <a:off x="6819563" y="1791781"/>
            <a:ext cx="3932730" cy="830997"/>
          </a:xfrm>
          <a:prstGeom prst="rect">
            <a:avLst/>
          </a:prstGeom>
          <a:noFill/>
        </p:spPr>
        <p:txBody>
          <a:bodyPr wrap="square" rtlCol="0">
            <a:spAutoFit/>
          </a:bodyPr>
          <a:lstStyle/>
          <a:p>
            <a:pPr algn="ctr"/>
            <a:r>
              <a:rPr lang="en-US" sz="1600" dirty="0" smtClean="0"/>
              <a:t>Our preprocessing pipeline handles dialects, slang, and noisy social media text more effectively.</a:t>
            </a:r>
            <a:endParaRPr lang="en-US" sz="1600" dirty="0"/>
          </a:p>
        </p:txBody>
      </p:sp>
      <p:sp>
        <p:nvSpPr>
          <p:cNvPr id="38" name="TextBox 37"/>
          <p:cNvSpPr txBox="1"/>
          <p:nvPr/>
        </p:nvSpPr>
        <p:spPr>
          <a:xfrm>
            <a:off x="1106585" y="3300572"/>
            <a:ext cx="3932730" cy="830997"/>
          </a:xfrm>
          <a:prstGeom prst="rect">
            <a:avLst/>
          </a:prstGeom>
          <a:noFill/>
        </p:spPr>
        <p:txBody>
          <a:bodyPr wrap="square" rtlCol="0">
            <a:spAutoFit/>
          </a:bodyPr>
          <a:lstStyle/>
          <a:p>
            <a:pPr algn="ctr"/>
            <a:r>
              <a:rPr lang="en-US" sz="1600" dirty="0" smtClean="0"/>
              <a:t>Fine-tuning </a:t>
            </a:r>
            <a:r>
              <a:rPr lang="en-US" sz="1600" dirty="0" err="1" smtClean="0"/>
              <a:t>AraBERT</a:t>
            </a:r>
            <a:r>
              <a:rPr lang="en-US" sz="1600" dirty="0" smtClean="0"/>
              <a:t> provides new performance benchmarks for Arabic NLP tasks.</a:t>
            </a:r>
            <a:endParaRPr lang="en-US" sz="1600" dirty="0"/>
          </a:p>
        </p:txBody>
      </p:sp>
      <p:sp>
        <p:nvSpPr>
          <p:cNvPr id="39" name="TextBox 38"/>
          <p:cNvSpPr txBox="1"/>
          <p:nvPr/>
        </p:nvSpPr>
        <p:spPr>
          <a:xfrm>
            <a:off x="6819563" y="3381930"/>
            <a:ext cx="3932730" cy="584775"/>
          </a:xfrm>
          <a:prstGeom prst="rect">
            <a:avLst/>
          </a:prstGeom>
          <a:noFill/>
        </p:spPr>
        <p:txBody>
          <a:bodyPr wrap="square" rtlCol="0">
            <a:spAutoFit/>
          </a:bodyPr>
          <a:lstStyle/>
          <a:p>
            <a:pPr algn="ctr"/>
            <a:r>
              <a:rPr lang="en-US" sz="1600" dirty="0" smtClean="0"/>
              <a:t>The project offers a fully reproducible workflow that can guide future research.</a:t>
            </a:r>
            <a:endParaRPr lang="en-US" sz="1600" dirty="0"/>
          </a:p>
        </p:txBody>
      </p:sp>
      <p:sp>
        <p:nvSpPr>
          <p:cNvPr id="16" name="Rounded Rectangle 15"/>
          <p:cNvSpPr/>
          <p:nvPr/>
        </p:nvSpPr>
        <p:spPr>
          <a:xfrm>
            <a:off x="3904408" y="4741272"/>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p:cNvSpPr txBox="1"/>
          <p:nvPr/>
        </p:nvSpPr>
        <p:spPr>
          <a:xfrm>
            <a:off x="3904408" y="4894250"/>
            <a:ext cx="3932730" cy="830997"/>
          </a:xfrm>
          <a:prstGeom prst="rect">
            <a:avLst/>
          </a:prstGeom>
          <a:noFill/>
        </p:spPr>
        <p:txBody>
          <a:bodyPr wrap="square" rtlCol="0">
            <a:spAutoFit/>
          </a:bodyPr>
          <a:lstStyle/>
          <a:p>
            <a:pPr algn="ctr"/>
            <a:r>
              <a:rPr lang="en-US" sz="1600" dirty="0" smtClean="0"/>
              <a:t>Our results highlight the importance of transformers in advancing Arabic language understanding.</a:t>
            </a:r>
          </a:p>
        </p:txBody>
      </p:sp>
    </p:spTree>
    <p:extLst>
      <p:ext uri="{BB962C8B-B14F-4D97-AF65-F5344CB8AC3E}">
        <p14:creationId xmlns:p14="http://schemas.microsoft.com/office/powerpoint/2010/main" val="16572291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1000"/>
                                        <p:tgtEl>
                                          <p:spTgt spid="38"/>
                                        </p:tgtEl>
                                      </p:cBhvr>
                                    </p:animEffect>
                                    <p:anim calcmode="lin" valueType="num">
                                      <p:cBhvr>
                                        <p:cTn id="37" dur="1000" fill="hold"/>
                                        <p:tgtEl>
                                          <p:spTgt spid="38"/>
                                        </p:tgtEl>
                                        <p:attrNameLst>
                                          <p:attrName>ppt_x</p:attrName>
                                        </p:attrNameLst>
                                      </p:cBhvr>
                                      <p:tavLst>
                                        <p:tav tm="0">
                                          <p:val>
                                            <p:strVal val="#ppt_x"/>
                                          </p:val>
                                        </p:tav>
                                        <p:tav tm="100000">
                                          <p:val>
                                            <p:strVal val="#ppt_x"/>
                                          </p:val>
                                        </p:tav>
                                      </p:tavLst>
                                    </p:anim>
                                    <p:anim calcmode="lin" valueType="num">
                                      <p:cBhvr>
                                        <p:cTn id="3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1000"/>
                                        <p:tgtEl>
                                          <p:spTgt spid="39"/>
                                        </p:tgtEl>
                                      </p:cBhvr>
                                    </p:animEffect>
                                    <p:anim calcmode="lin" valueType="num">
                                      <p:cBhvr>
                                        <p:cTn id="44" dur="1000" fill="hold"/>
                                        <p:tgtEl>
                                          <p:spTgt spid="39"/>
                                        </p:tgtEl>
                                        <p:attrNameLst>
                                          <p:attrName>ppt_x</p:attrName>
                                        </p:attrNameLst>
                                      </p:cBhvr>
                                      <p:tavLst>
                                        <p:tav tm="0">
                                          <p:val>
                                            <p:strVal val="#ppt_x"/>
                                          </p:val>
                                        </p:tav>
                                        <p:tav tm="100000">
                                          <p:val>
                                            <p:strVal val="#ppt_x"/>
                                          </p:val>
                                        </p:tav>
                                      </p:tavLst>
                                    </p:anim>
                                    <p:anim calcmode="lin" valueType="num">
                                      <p:cBhvr>
                                        <p:cTn id="45" dur="1000" fill="hold"/>
                                        <p:tgtEl>
                                          <p:spTgt spid="3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fade">
                                      <p:cBhvr>
                                        <p:cTn id="60" dur="1000"/>
                                        <p:tgtEl>
                                          <p:spTgt spid="3"/>
                                        </p:tgtEl>
                                      </p:cBhvr>
                                    </p:animEffect>
                                    <p:anim calcmode="lin" valueType="num">
                                      <p:cBhvr>
                                        <p:cTn id="61" dur="1000" fill="hold"/>
                                        <p:tgtEl>
                                          <p:spTgt spid="3"/>
                                        </p:tgtEl>
                                        <p:attrNameLst>
                                          <p:attrName>ppt_x</p:attrName>
                                        </p:attrNameLst>
                                      </p:cBhvr>
                                      <p:tavLst>
                                        <p:tav tm="0">
                                          <p:val>
                                            <p:strVal val="#ppt_x"/>
                                          </p:val>
                                        </p:tav>
                                        <p:tav tm="100000">
                                          <p:val>
                                            <p:strVal val="#ppt_x"/>
                                          </p:val>
                                        </p:tav>
                                      </p:tavLst>
                                    </p:anim>
                                    <p:anim calcmode="lin" valueType="num">
                                      <p:cBhvr>
                                        <p:cTn id="6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3" grpId="0" animBg="1"/>
      <p:bldP spid="32" grpId="0" animBg="1"/>
      <p:bldP spid="33" grpId="0" animBg="1"/>
      <p:bldP spid="36" grpId="0"/>
      <p:bldP spid="37" grpId="0"/>
      <p:bldP spid="38" grpId="0"/>
      <p:bldP spid="39" grpId="0"/>
      <p:bldP spid="16"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6D82BB2-895A-450F-BFAC-E0B35E2C98B2}" type="slidenum">
              <a:rPr lang="en-US" smtClean="0"/>
              <a:t>6</a:t>
            </a:fld>
            <a:endParaRPr lang="en-US"/>
          </a:p>
        </p:txBody>
      </p:sp>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Early Machine Learning Approaches in Sentiment Analysis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614992" y="1798668"/>
            <a:ext cx="6342131" cy="56862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ounded Rectangle 23"/>
          <p:cNvSpPr/>
          <p:nvPr/>
        </p:nvSpPr>
        <p:spPr>
          <a:xfrm>
            <a:off x="5187667" y="2733691"/>
            <a:ext cx="6404846" cy="58904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5" name="Rounded Rectangle 24"/>
          <p:cNvSpPr/>
          <p:nvPr/>
        </p:nvSpPr>
        <p:spPr>
          <a:xfrm>
            <a:off x="552278" y="3665230"/>
            <a:ext cx="6404847" cy="5890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6" name="Rounded Rectangle 25"/>
          <p:cNvSpPr/>
          <p:nvPr/>
        </p:nvSpPr>
        <p:spPr>
          <a:xfrm>
            <a:off x="5187667" y="4649407"/>
            <a:ext cx="640484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7" name="Rounded Rectangle 26"/>
          <p:cNvSpPr/>
          <p:nvPr/>
        </p:nvSpPr>
        <p:spPr>
          <a:xfrm>
            <a:off x="552277" y="5653421"/>
            <a:ext cx="6404847" cy="6146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TextBox 5"/>
          <p:cNvSpPr txBox="1"/>
          <p:nvPr/>
        </p:nvSpPr>
        <p:spPr>
          <a:xfrm>
            <a:off x="614992" y="1898314"/>
            <a:ext cx="6342131" cy="369332"/>
          </a:xfrm>
          <a:prstGeom prst="rect">
            <a:avLst/>
          </a:prstGeom>
          <a:noFill/>
        </p:spPr>
        <p:txBody>
          <a:bodyPr wrap="square" rtlCol="0">
            <a:spAutoFit/>
          </a:bodyPr>
          <a:lstStyle/>
          <a:p>
            <a:pPr algn="ctr"/>
            <a:r>
              <a:rPr lang="en-US" sz="1600" dirty="0" smtClean="0"/>
              <a:t>Used simple text features like </a:t>
            </a:r>
            <a:r>
              <a:rPr lang="en-US" sz="1600" b="1" dirty="0" smtClean="0"/>
              <a:t>Bag-of-Words</a:t>
            </a:r>
            <a:r>
              <a:rPr lang="en-US" sz="1600" dirty="0" smtClean="0"/>
              <a:t> and </a:t>
            </a:r>
            <a:r>
              <a:rPr lang="en-US" sz="1600" b="1" dirty="0" smtClean="0"/>
              <a:t>TF-IDF</a:t>
            </a:r>
            <a:r>
              <a:rPr lang="en-US" dirty="0" smtClean="0"/>
              <a:t>.</a:t>
            </a:r>
            <a:endParaRPr lang="en-US" dirty="0"/>
          </a:p>
        </p:txBody>
      </p:sp>
      <p:sp>
        <p:nvSpPr>
          <p:cNvPr id="7" name="TextBox 6"/>
          <p:cNvSpPr txBox="1"/>
          <p:nvPr/>
        </p:nvSpPr>
        <p:spPr>
          <a:xfrm>
            <a:off x="5187667" y="2762488"/>
            <a:ext cx="6404846" cy="584775"/>
          </a:xfrm>
          <a:prstGeom prst="rect">
            <a:avLst/>
          </a:prstGeom>
          <a:noFill/>
        </p:spPr>
        <p:txBody>
          <a:bodyPr wrap="square" rtlCol="0">
            <a:spAutoFit/>
          </a:bodyPr>
          <a:lstStyle/>
          <a:p>
            <a:pPr algn="ctr"/>
            <a:r>
              <a:rPr lang="en-US" sz="1600" dirty="0" smtClean="0"/>
              <a:t>Models such as </a:t>
            </a:r>
            <a:r>
              <a:rPr lang="en-US" sz="1600" b="1" dirty="0" smtClean="0"/>
              <a:t>Logistic Regression, SVM, and Naive Bayes</a:t>
            </a:r>
            <a:r>
              <a:rPr lang="en-US" sz="1600" dirty="0" smtClean="0"/>
              <a:t> were widely used.</a:t>
            </a:r>
            <a:endParaRPr lang="en-US" sz="1600" dirty="0"/>
          </a:p>
        </p:txBody>
      </p:sp>
      <p:sp>
        <p:nvSpPr>
          <p:cNvPr id="8" name="TextBox 7"/>
          <p:cNvSpPr txBox="1"/>
          <p:nvPr/>
        </p:nvSpPr>
        <p:spPr>
          <a:xfrm>
            <a:off x="552278" y="3784767"/>
            <a:ext cx="6404847" cy="338554"/>
          </a:xfrm>
          <a:prstGeom prst="rect">
            <a:avLst/>
          </a:prstGeom>
          <a:noFill/>
        </p:spPr>
        <p:txBody>
          <a:bodyPr wrap="square" rtlCol="0">
            <a:spAutoFit/>
          </a:bodyPr>
          <a:lstStyle/>
          <a:p>
            <a:pPr algn="ctr"/>
            <a:r>
              <a:rPr lang="en-US" sz="1600" dirty="0" smtClean="0"/>
              <a:t>Worked well for short, clean text but struggled with context and sarcasm.</a:t>
            </a:r>
            <a:endParaRPr lang="en-US" sz="1600" dirty="0"/>
          </a:p>
        </p:txBody>
      </p:sp>
      <p:sp>
        <p:nvSpPr>
          <p:cNvPr id="9" name="TextBox 8"/>
          <p:cNvSpPr txBox="1"/>
          <p:nvPr/>
        </p:nvSpPr>
        <p:spPr>
          <a:xfrm>
            <a:off x="5187667" y="4791957"/>
            <a:ext cx="6404847" cy="338554"/>
          </a:xfrm>
          <a:prstGeom prst="rect">
            <a:avLst/>
          </a:prstGeom>
          <a:noFill/>
        </p:spPr>
        <p:txBody>
          <a:bodyPr wrap="square" rtlCol="0">
            <a:spAutoFit/>
          </a:bodyPr>
          <a:lstStyle/>
          <a:p>
            <a:pPr algn="ctr"/>
            <a:r>
              <a:rPr lang="en-US" sz="1600" dirty="0" smtClean="0"/>
              <a:t>Could not understand Arabic dialects or complex sentence structures.</a:t>
            </a:r>
            <a:endParaRPr lang="en-US" sz="1600" dirty="0"/>
          </a:p>
        </p:txBody>
      </p:sp>
      <p:sp>
        <p:nvSpPr>
          <p:cNvPr id="10" name="TextBox 9"/>
          <p:cNvSpPr txBox="1"/>
          <p:nvPr/>
        </p:nvSpPr>
        <p:spPr>
          <a:xfrm>
            <a:off x="552277" y="5791480"/>
            <a:ext cx="6404848" cy="338554"/>
          </a:xfrm>
          <a:prstGeom prst="rect">
            <a:avLst/>
          </a:prstGeom>
          <a:noFill/>
        </p:spPr>
        <p:txBody>
          <a:bodyPr wrap="square" rtlCol="0">
            <a:spAutoFit/>
          </a:bodyPr>
          <a:lstStyle/>
          <a:p>
            <a:pPr algn="ctr"/>
            <a:r>
              <a:rPr lang="en-US" sz="1600" dirty="0" smtClean="0"/>
              <a:t>Served as the foundation for later deep learning and transformer models.</a:t>
            </a:r>
            <a:endParaRPr lang="en-US" sz="1600" dirty="0"/>
          </a:p>
        </p:txBody>
      </p:sp>
    </p:spTree>
    <p:extLst>
      <p:ext uri="{BB962C8B-B14F-4D97-AF65-F5344CB8AC3E}">
        <p14:creationId xmlns:p14="http://schemas.microsoft.com/office/powerpoint/2010/main" val="2316217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1000"/>
                                        <p:tgtEl>
                                          <p:spTgt spid="26"/>
                                        </p:tgtEl>
                                      </p:cBhvr>
                                    </p:animEffect>
                                    <p:anim calcmode="lin" valueType="num">
                                      <p:cBhvr>
                                        <p:cTn id="44" dur="1000" fill="hold"/>
                                        <p:tgtEl>
                                          <p:spTgt spid="26"/>
                                        </p:tgtEl>
                                        <p:attrNameLst>
                                          <p:attrName>ppt_x</p:attrName>
                                        </p:attrNameLst>
                                      </p:cBhvr>
                                      <p:tavLst>
                                        <p:tav tm="0">
                                          <p:val>
                                            <p:strVal val="#ppt_x"/>
                                          </p:val>
                                        </p:tav>
                                        <p:tav tm="100000">
                                          <p:val>
                                            <p:strVal val="#ppt_x"/>
                                          </p:val>
                                        </p:tav>
                                      </p:tavLst>
                                    </p:anim>
                                    <p:anim calcmode="lin" valueType="num">
                                      <p:cBhvr>
                                        <p:cTn id="45" dur="1000" fill="hold"/>
                                        <p:tgtEl>
                                          <p:spTgt spid="26"/>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1000"/>
                                        <p:tgtEl>
                                          <p:spTgt spid="27"/>
                                        </p:tgtEl>
                                      </p:cBhvr>
                                    </p:animEffect>
                                    <p:anim calcmode="lin" valueType="num">
                                      <p:cBhvr>
                                        <p:cTn id="56" dur="1000" fill="hold"/>
                                        <p:tgtEl>
                                          <p:spTgt spid="27"/>
                                        </p:tgtEl>
                                        <p:attrNameLst>
                                          <p:attrName>ppt_x</p:attrName>
                                        </p:attrNameLst>
                                      </p:cBhvr>
                                      <p:tavLst>
                                        <p:tav tm="0">
                                          <p:val>
                                            <p:strVal val="#ppt_x"/>
                                          </p:val>
                                        </p:tav>
                                        <p:tav tm="100000">
                                          <p:val>
                                            <p:strVal val="#ppt_x"/>
                                          </p:val>
                                        </p:tav>
                                      </p:tavLst>
                                    </p:anim>
                                    <p:anim calcmode="lin" valueType="num">
                                      <p:cBhvr>
                                        <p:cTn id="57" dur="1000" fill="hold"/>
                                        <p:tgtEl>
                                          <p:spTgt spid="27"/>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1000"/>
                                        <p:tgtEl>
                                          <p:spTgt spid="10"/>
                                        </p:tgtEl>
                                      </p:cBhvr>
                                    </p:animEffect>
                                    <p:anim calcmode="lin" valueType="num">
                                      <p:cBhvr>
                                        <p:cTn id="61" dur="1000" fill="hold"/>
                                        <p:tgtEl>
                                          <p:spTgt spid="10"/>
                                        </p:tgtEl>
                                        <p:attrNameLst>
                                          <p:attrName>ppt_x</p:attrName>
                                        </p:attrNameLst>
                                      </p:cBhvr>
                                      <p:tavLst>
                                        <p:tav tm="0">
                                          <p:val>
                                            <p:strVal val="#ppt_x"/>
                                          </p:val>
                                        </p:tav>
                                        <p:tav tm="100000">
                                          <p:val>
                                            <p:strVal val="#ppt_x"/>
                                          </p:val>
                                        </p:tav>
                                      </p:tavLst>
                                    </p:anim>
                                    <p:anim calcmode="lin" valueType="num">
                                      <p:cBhvr>
                                        <p:cTn id="6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6" grpId="0"/>
      <p:bldP spid="7"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683430" y="6233775"/>
            <a:ext cx="2743200" cy="365125"/>
          </a:xfrm>
        </p:spPr>
        <p:txBody>
          <a:bodyPr/>
          <a:lstStyle/>
          <a:p>
            <a:fld id="{26D82BB2-895A-450F-BFAC-E0B35E2C98B2}" type="slidenum">
              <a:rPr lang="en-US" smtClean="0"/>
              <a:t>7</a:t>
            </a:fld>
            <a:endParaRPr lang="en-US"/>
          </a:p>
        </p:txBody>
      </p:sp>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How Deep Learning Improved Arabic Text Understanding</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14993" y="1216916"/>
            <a:ext cx="6342131" cy="56862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8" name="Rounded Rectangle 17"/>
          <p:cNvSpPr/>
          <p:nvPr/>
        </p:nvSpPr>
        <p:spPr>
          <a:xfrm>
            <a:off x="5195088" y="2130443"/>
            <a:ext cx="6397426" cy="58904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9" name="Rounded Rectangle 18"/>
          <p:cNvSpPr/>
          <p:nvPr/>
        </p:nvSpPr>
        <p:spPr>
          <a:xfrm>
            <a:off x="552279" y="3083478"/>
            <a:ext cx="6404847" cy="5890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Rounded Rectangle 19"/>
          <p:cNvSpPr/>
          <p:nvPr/>
        </p:nvSpPr>
        <p:spPr>
          <a:xfrm>
            <a:off x="5195088" y="4063800"/>
            <a:ext cx="640484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1" name="Rounded Rectangle 20"/>
          <p:cNvSpPr/>
          <p:nvPr/>
        </p:nvSpPr>
        <p:spPr>
          <a:xfrm>
            <a:off x="552278" y="5071669"/>
            <a:ext cx="6404847" cy="6146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TextBox 21"/>
          <p:cNvSpPr txBox="1"/>
          <p:nvPr/>
        </p:nvSpPr>
        <p:spPr>
          <a:xfrm>
            <a:off x="614993" y="1218976"/>
            <a:ext cx="6342131" cy="584775"/>
          </a:xfrm>
          <a:prstGeom prst="rect">
            <a:avLst/>
          </a:prstGeom>
          <a:noFill/>
        </p:spPr>
        <p:txBody>
          <a:bodyPr wrap="square" rtlCol="0">
            <a:spAutoFit/>
          </a:bodyPr>
          <a:lstStyle/>
          <a:p>
            <a:pPr algn="ctr"/>
            <a:r>
              <a:rPr lang="en-US" sz="1600" dirty="0" smtClean="0"/>
              <a:t>Learns context and meaning through sequence models like </a:t>
            </a:r>
            <a:r>
              <a:rPr lang="en-US" sz="1600" b="1" dirty="0" smtClean="0"/>
              <a:t>LSTM</a:t>
            </a:r>
            <a:r>
              <a:rPr lang="en-US" sz="1600" dirty="0" smtClean="0"/>
              <a:t> and </a:t>
            </a:r>
            <a:r>
              <a:rPr lang="en-US" sz="1600" b="1" dirty="0" err="1" smtClean="0"/>
              <a:t>BiLSTM</a:t>
            </a:r>
            <a:r>
              <a:rPr lang="en-US" sz="1600" dirty="0" smtClean="0"/>
              <a:t>.</a:t>
            </a:r>
            <a:endParaRPr lang="en-US" dirty="0"/>
          </a:p>
        </p:txBody>
      </p:sp>
      <p:sp>
        <p:nvSpPr>
          <p:cNvPr id="29" name="TextBox 28"/>
          <p:cNvSpPr txBox="1"/>
          <p:nvPr/>
        </p:nvSpPr>
        <p:spPr>
          <a:xfrm>
            <a:off x="552279" y="3203015"/>
            <a:ext cx="6404847" cy="338554"/>
          </a:xfrm>
          <a:prstGeom prst="rect">
            <a:avLst/>
          </a:prstGeom>
          <a:noFill/>
        </p:spPr>
        <p:txBody>
          <a:bodyPr wrap="square" rtlCol="0">
            <a:spAutoFit/>
          </a:bodyPr>
          <a:lstStyle/>
          <a:p>
            <a:pPr algn="ctr"/>
            <a:r>
              <a:rPr lang="en-US" sz="1600" dirty="0" smtClean="0"/>
              <a:t>Handles </a:t>
            </a:r>
            <a:r>
              <a:rPr lang="en-US" sz="1600" b="1" dirty="0" smtClean="0"/>
              <a:t>dialects, slang, and informal writing</a:t>
            </a:r>
            <a:r>
              <a:rPr lang="en-US" sz="1600" dirty="0" smtClean="0"/>
              <a:t> more effectively.</a:t>
            </a:r>
            <a:endParaRPr lang="en-US" sz="1600" dirty="0"/>
          </a:p>
        </p:txBody>
      </p:sp>
      <p:sp>
        <p:nvSpPr>
          <p:cNvPr id="30" name="TextBox 29"/>
          <p:cNvSpPr txBox="1"/>
          <p:nvPr/>
        </p:nvSpPr>
        <p:spPr>
          <a:xfrm>
            <a:off x="5195088" y="4104918"/>
            <a:ext cx="6745388" cy="584775"/>
          </a:xfrm>
          <a:prstGeom prst="rect">
            <a:avLst/>
          </a:prstGeom>
          <a:noFill/>
        </p:spPr>
        <p:txBody>
          <a:bodyPr wrap="square" rtlCol="0">
            <a:spAutoFit/>
          </a:bodyPr>
          <a:lstStyle/>
          <a:p>
            <a:pPr algn="ctr"/>
            <a:r>
              <a:rPr lang="en-US" sz="1600" dirty="0" smtClean="0"/>
              <a:t>Uses </a:t>
            </a:r>
            <a:r>
              <a:rPr lang="en-US" sz="1600" b="1" dirty="0" smtClean="0"/>
              <a:t>word </a:t>
            </a:r>
            <a:r>
              <a:rPr lang="en-US" sz="1600" b="1" dirty="0" err="1" smtClean="0"/>
              <a:t>embeddings</a:t>
            </a:r>
            <a:r>
              <a:rPr lang="en-US" sz="1600" dirty="0" smtClean="0"/>
              <a:t> (Word2Vec, </a:t>
            </a:r>
            <a:r>
              <a:rPr lang="en-US" sz="1600" dirty="0" err="1" smtClean="0"/>
              <a:t>FastText</a:t>
            </a:r>
            <a:r>
              <a:rPr lang="en-US" sz="1600" dirty="0" smtClean="0"/>
              <a:t>) to understand semantic relationships.</a:t>
            </a:r>
            <a:endParaRPr lang="en-US" sz="1600" dirty="0"/>
          </a:p>
        </p:txBody>
      </p:sp>
      <p:sp>
        <p:nvSpPr>
          <p:cNvPr id="31" name="TextBox 30"/>
          <p:cNvSpPr txBox="1"/>
          <p:nvPr/>
        </p:nvSpPr>
        <p:spPr>
          <a:xfrm>
            <a:off x="552278" y="5209728"/>
            <a:ext cx="6404848" cy="338554"/>
          </a:xfrm>
          <a:prstGeom prst="rect">
            <a:avLst/>
          </a:prstGeom>
          <a:noFill/>
        </p:spPr>
        <p:txBody>
          <a:bodyPr wrap="square" rtlCol="0">
            <a:spAutoFit/>
          </a:bodyPr>
          <a:lstStyle/>
          <a:p>
            <a:pPr algn="ctr"/>
            <a:r>
              <a:rPr lang="en-US" sz="1600" dirty="0" smtClean="0"/>
              <a:t>Reduces errors caused by spelling variations and noisy text.</a:t>
            </a:r>
            <a:endParaRPr lang="en-US" sz="1600" dirty="0"/>
          </a:p>
        </p:txBody>
      </p:sp>
      <p:sp>
        <p:nvSpPr>
          <p:cNvPr id="33" name="TextBox 32"/>
          <p:cNvSpPr txBox="1"/>
          <p:nvPr/>
        </p:nvSpPr>
        <p:spPr>
          <a:xfrm>
            <a:off x="5195088" y="2242046"/>
            <a:ext cx="6397426" cy="338554"/>
          </a:xfrm>
          <a:prstGeom prst="rect">
            <a:avLst/>
          </a:prstGeom>
          <a:noFill/>
        </p:spPr>
        <p:txBody>
          <a:bodyPr wrap="square" rtlCol="0">
            <a:spAutoFit/>
          </a:bodyPr>
          <a:lstStyle/>
          <a:p>
            <a:pPr algn="ctr"/>
            <a:r>
              <a:rPr lang="en-US" sz="1600" dirty="0" smtClean="0"/>
              <a:t>Captures long-term dependencies in Arabic sentences better than ML.</a:t>
            </a:r>
            <a:endParaRPr lang="en-US" sz="1600" dirty="0"/>
          </a:p>
        </p:txBody>
      </p:sp>
      <p:sp>
        <p:nvSpPr>
          <p:cNvPr id="34" name="Rounded Rectangle 33"/>
          <p:cNvSpPr/>
          <p:nvPr/>
        </p:nvSpPr>
        <p:spPr>
          <a:xfrm>
            <a:off x="5195088" y="6024704"/>
            <a:ext cx="639742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5" name="TextBox 34"/>
          <p:cNvSpPr txBox="1"/>
          <p:nvPr/>
        </p:nvSpPr>
        <p:spPr>
          <a:xfrm>
            <a:off x="5195088" y="6143101"/>
            <a:ext cx="6397426" cy="338554"/>
          </a:xfrm>
          <a:prstGeom prst="rect">
            <a:avLst/>
          </a:prstGeom>
          <a:noFill/>
        </p:spPr>
        <p:txBody>
          <a:bodyPr wrap="square" rtlCol="0">
            <a:spAutoFit/>
          </a:bodyPr>
          <a:lstStyle/>
          <a:p>
            <a:pPr algn="ctr"/>
            <a:r>
              <a:rPr lang="en-US" sz="1600" dirty="0" smtClean="0"/>
              <a:t>Achieves significantly </a:t>
            </a:r>
            <a:r>
              <a:rPr lang="en-US" sz="1600" b="1" dirty="0" smtClean="0"/>
              <a:t>higher accuracy</a:t>
            </a:r>
            <a:r>
              <a:rPr lang="en-US" sz="1600" dirty="0" smtClean="0"/>
              <a:t> than traditional ML approaches.</a:t>
            </a:r>
            <a:endParaRPr lang="en-US" sz="1600" dirty="0"/>
          </a:p>
        </p:txBody>
      </p:sp>
    </p:spTree>
    <p:extLst>
      <p:ext uri="{BB962C8B-B14F-4D97-AF65-F5344CB8AC3E}">
        <p14:creationId xmlns:p14="http://schemas.microsoft.com/office/powerpoint/2010/main" val="37015268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1000"/>
                                        <p:tgtEl>
                                          <p:spTgt spid="33"/>
                                        </p:tgtEl>
                                      </p:cBhvr>
                                    </p:animEffect>
                                    <p:anim calcmode="lin" valueType="num">
                                      <p:cBhvr>
                                        <p:cTn id="25" dur="1000" fill="hold"/>
                                        <p:tgtEl>
                                          <p:spTgt spid="33"/>
                                        </p:tgtEl>
                                        <p:attrNameLst>
                                          <p:attrName>ppt_x</p:attrName>
                                        </p:attrNameLst>
                                      </p:cBhvr>
                                      <p:tavLst>
                                        <p:tav tm="0">
                                          <p:val>
                                            <p:strVal val="#ppt_x"/>
                                          </p:val>
                                        </p:tav>
                                        <p:tav tm="100000">
                                          <p:val>
                                            <p:strVal val="#ppt_x"/>
                                          </p:val>
                                        </p:tav>
                                      </p:tavLst>
                                    </p:anim>
                                    <p:anim calcmode="lin" valueType="num">
                                      <p:cBhvr>
                                        <p:cTn id="2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1000"/>
                                        <p:tgtEl>
                                          <p:spTgt spid="30"/>
                                        </p:tgtEl>
                                      </p:cBhvr>
                                    </p:animEffect>
                                    <p:anim calcmode="lin" valueType="num">
                                      <p:cBhvr>
                                        <p:cTn id="49" dur="1000" fill="hold"/>
                                        <p:tgtEl>
                                          <p:spTgt spid="30"/>
                                        </p:tgtEl>
                                        <p:attrNameLst>
                                          <p:attrName>ppt_x</p:attrName>
                                        </p:attrNameLst>
                                      </p:cBhvr>
                                      <p:tavLst>
                                        <p:tav tm="0">
                                          <p:val>
                                            <p:strVal val="#ppt_x"/>
                                          </p:val>
                                        </p:tav>
                                        <p:tav tm="100000">
                                          <p:val>
                                            <p:strVal val="#ppt_x"/>
                                          </p:val>
                                        </p:tav>
                                      </p:tavLst>
                                    </p:anim>
                                    <p:anim calcmode="lin" valueType="num">
                                      <p:cBhvr>
                                        <p:cTn id="5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000"/>
                                        <p:tgtEl>
                                          <p:spTgt spid="21"/>
                                        </p:tgtEl>
                                      </p:cBhvr>
                                    </p:animEffect>
                                    <p:anim calcmode="lin" valueType="num">
                                      <p:cBhvr>
                                        <p:cTn id="56" dur="1000" fill="hold"/>
                                        <p:tgtEl>
                                          <p:spTgt spid="21"/>
                                        </p:tgtEl>
                                        <p:attrNameLst>
                                          <p:attrName>ppt_x</p:attrName>
                                        </p:attrNameLst>
                                      </p:cBhvr>
                                      <p:tavLst>
                                        <p:tav tm="0">
                                          <p:val>
                                            <p:strVal val="#ppt_x"/>
                                          </p:val>
                                        </p:tav>
                                        <p:tav tm="100000">
                                          <p:val>
                                            <p:strVal val="#ppt_x"/>
                                          </p:val>
                                        </p:tav>
                                      </p:tavLst>
                                    </p:anim>
                                    <p:anim calcmode="lin" valueType="num">
                                      <p:cBhvr>
                                        <p:cTn id="57" dur="10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1000"/>
                                        <p:tgtEl>
                                          <p:spTgt spid="34"/>
                                        </p:tgtEl>
                                      </p:cBhvr>
                                    </p:animEffect>
                                    <p:anim calcmode="lin" valueType="num">
                                      <p:cBhvr>
                                        <p:cTn id="68" dur="1000" fill="hold"/>
                                        <p:tgtEl>
                                          <p:spTgt spid="34"/>
                                        </p:tgtEl>
                                        <p:attrNameLst>
                                          <p:attrName>ppt_x</p:attrName>
                                        </p:attrNameLst>
                                      </p:cBhvr>
                                      <p:tavLst>
                                        <p:tav tm="0">
                                          <p:val>
                                            <p:strVal val="#ppt_x"/>
                                          </p:val>
                                        </p:tav>
                                        <p:tav tm="100000">
                                          <p:val>
                                            <p:strVal val="#ppt_x"/>
                                          </p:val>
                                        </p:tav>
                                      </p:tavLst>
                                    </p:anim>
                                    <p:anim calcmode="lin" valueType="num">
                                      <p:cBhvr>
                                        <p:cTn id="69" dur="1000" fill="hold"/>
                                        <p:tgtEl>
                                          <p:spTgt spid="3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1000"/>
                                        <p:tgtEl>
                                          <p:spTgt spid="35"/>
                                        </p:tgtEl>
                                      </p:cBhvr>
                                    </p:animEffect>
                                    <p:anim calcmode="lin" valueType="num">
                                      <p:cBhvr>
                                        <p:cTn id="73" dur="1000" fill="hold"/>
                                        <p:tgtEl>
                                          <p:spTgt spid="35"/>
                                        </p:tgtEl>
                                        <p:attrNameLst>
                                          <p:attrName>ppt_x</p:attrName>
                                        </p:attrNameLst>
                                      </p:cBhvr>
                                      <p:tavLst>
                                        <p:tav tm="0">
                                          <p:val>
                                            <p:strVal val="#ppt_x"/>
                                          </p:val>
                                        </p:tav>
                                        <p:tav tm="100000">
                                          <p:val>
                                            <p:strVal val="#ppt_x"/>
                                          </p:val>
                                        </p:tav>
                                      </p:tavLst>
                                    </p:anim>
                                    <p:anim calcmode="lin" valueType="num">
                                      <p:cBhvr>
                                        <p:cTn id="7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p:bldP spid="29" grpId="0"/>
      <p:bldP spid="30" grpId="0"/>
      <p:bldP spid="31" grpId="0"/>
      <p:bldP spid="33" grpId="0"/>
      <p:bldP spid="34" grpId="0" animBg="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Transformers: The Game Changers (</a:t>
            </a:r>
            <a:r>
              <a:rPr lang="en-US" sz="3200" b="1" dirty="0" err="1" smtClean="0"/>
              <a:t>AraBERT</a:t>
            </a:r>
            <a:r>
              <a:rPr lang="en-US" sz="3200" b="1" dirty="0" smtClean="0"/>
              <a:t>, MARBERT)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1497027" y="1666959"/>
            <a:ext cx="9160183" cy="190162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3" name="Rounded Rectangle 22"/>
          <p:cNvSpPr/>
          <p:nvPr/>
        </p:nvSpPr>
        <p:spPr>
          <a:xfrm>
            <a:off x="1497027" y="4129771"/>
            <a:ext cx="9160183" cy="19016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TextBox 5"/>
          <p:cNvSpPr txBox="1"/>
          <p:nvPr/>
        </p:nvSpPr>
        <p:spPr>
          <a:xfrm>
            <a:off x="1497027" y="1901628"/>
            <a:ext cx="9160183" cy="1477328"/>
          </a:xfrm>
          <a:prstGeom prst="rect">
            <a:avLst/>
          </a:prstGeom>
          <a:noFill/>
        </p:spPr>
        <p:txBody>
          <a:bodyPr wrap="square" rtlCol="0">
            <a:spAutoFit/>
          </a:bodyPr>
          <a:lstStyle/>
          <a:p>
            <a:pPr marL="285750" indent="-285750" algn="ctr">
              <a:buFont typeface="Arial" panose="020B0604020202020204" pitchFamily="34" charset="0"/>
              <a:buChar char="•"/>
            </a:pPr>
            <a:r>
              <a:rPr lang="en-US" dirty="0" smtClean="0"/>
              <a:t>Transformers have completely changed the way Arabic text is processed by introducing models that understand context more accurately than any previous technique. Unlike traditional or deep learning models, transformers analyze all parts of a sentence at once using self-attention, allowing them to capture meaning, relationships, and emotional tone with exceptional precision.</a:t>
            </a:r>
            <a:endParaRPr lang="en-US" dirty="0"/>
          </a:p>
        </p:txBody>
      </p:sp>
      <p:sp>
        <p:nvSpPr>
          <p:cNvPr id="7" name="TextBox 6"/>
          <p:cNvSpPr txBox="1"/>
          <p:nvPr/>
        </p:nvSpPr>
        <p:spPr>
          <a:xfrm>
            <a:off x="1497027" y="4369699"/>
            <a:ext cx="9160183" cy="1477328"/>
          </a:xfrm>
          <a:prstGeom prst="rect">
            <a:avLst/>
          </a:prstGeom>
          <a:noFill/>
        </p:spPr>
        <p:txBody>
          <a:bodyPr wrap="square" rtlCol="0">
            <a:spAutoFit/>
          </a:bodyPr>
          <a:lstStyle/>
          <a:p>
            <a:pPr marL="285750" indent="-285750" algn="ctr">
              <a:buFont typeface="Arial" panose="020B0604020202020204" pitchFamily="34" charset="0"/>
              <a:buChar char="•"/>
            </a:pPr>
            <a:r>
              <a:rPr lang="en-US" dirty="0" smtClean="0"/>
              <a:t>Models like </a:t>
            </a:r>
            <a:r>
              <a:rPr lang="en-US" b="1" dirty="0" err="1" smtClean="0"/>
              <a:t>AraBERT</a:t>
            </a:r>
            <a:r>
              <a:rPr lang="en-US" dirty="0" smtClean="0"/>
              <a:t> and </a:t>
            </a:r>
            <a:r>
              <a:rPr lang="en-US" b="1" dirty="0" smtClean="0"/>
              <a:t>MARBERT</a:t>
            </a:r>
            <a:r>
              <a:rPr lang="en-US" dirty="0" smtClean="0"/>
              <a:t> are specifically trained on large Arabic datasets, which helps them handle dialects, slang, spelling variations, and social media language far better than older methods. These transformers deliver state-of-the-art results in sentiment analysis and other NLP tasks, making them the most powerful and reliable tools for modern Arabic language understanding.</a:t>
            </a:r>
            <a:endParaRPr lang="en-US" dirty="0"/>
          </a:p>
        </p:txBody>
      </p:sp>
    </p:spTree>
    <p:extLst>
      <p:ext uri="{BB962C8B-B14F-4D97-AF65-F5344CB8AC3E}">
        <p14:creationId xmlns:p14="http://schemas.microsoft.com/office/powerpoint/2010/main" val="39918672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What Our Model Learned From</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2168665"/>
            <a:ext cx="9160183" cy="339865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6" y="2529164"/>
            <a:ext cx="9160184" cy="2677656"/>
          </a:xfrm>
          <a:prstGeom prst="rect">
            <a:avLst/>
          </a:prstGeom>
          <a:noFill/>
        </p:spPr>
        <p:txBody>
          <a:bodyPr wrap="square" rtlCol="0">
            <a:spAutoFit/>
          </a:bodyPr>
          <a:lstStyle/>
          <a:p>
            <a:pPr marL="285750" indent="-285750" algn="ctr">
              <a:buFont typeface="Arial" panose="020B0604020202020204" pitchFamily="34" charset="0"/>
              <a:buChar char="•"/>
            </a:pPr>
            <a:r>
              <a:rPr lang="en-US" sz="2400" dirty="0" smtClean="0"/>
              <a:t>The dataset used in this project is the Arabic sentiment dataset that accompanies </a:t>
            </a:r>
            <a:r>
              <a:rPr lang="en-US" sz="2400" b="1" dirty="0" smtClean="0"/>
              <a:t>AraBERTv2</a:t>
            </a:r>
            <a:r>
              <a:rPr lang="en-US" sz="2400" dirty="0" smtClean="0"/>
              <a:t>, provided through the Hugging Face Transformers library. It contains a large collection of Arabic text samples—mainly tweets and short social media posts—labeled into three sentiment classes: </a:t>
            </a:r>
            <a:r>
              <a:rPr lang="en-US" sz="2400" b="1" dirty="0" smtClean="0"/>
              <a:t>positive </a:t>
            </a:r>
            <a:r>
              <a:rPr lang="en-US" sz="2400" dirty="0" smtClean="0"/>
              <a:t>and </a:t>
            </a:r>
            <a:r>
              <a:rPr lang="en-US" sz="2400" b="1" dirty="0" smtClean="0"/>
              <a:t>negative</a:t>
            </a:r>
            <a:r>
              <a:rPr lang="en-US" sz="2400" dirty="0" smtClean="0"/>
              <a:t>. </a:t>
            </a:r>
            <a:r>
              <a:rPr lang="en-US" sz="2400" dirty="0" smtClean="0"/>
              <a:t>The data covers multiple Arabic dialects and real-world writing styles, including slang, informal grammar, and spelling variations.</a:t>
            </a:r>
            <a:endParaRPr lang="en-US" dirty="0"/>
          </a:p>
        </p:txBody>
      </p:sp>
    </p:spTree>
    <p:extLst>
      <p:ext uri="{BB962C8B-B14F-4D97-AF65-F5344CB8AC3E}">
        <p14:creationId xmlns:p14="http://schemas.microsoft.com/office/powerpoint/2010/main" val="4256285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Cleaning &amp; Preparing Arabic Text for Modeling </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1561763"/>
            <a:ext cx="9160183" cy="267037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7" y="1740136"/>
            <a:ext cx="9160184" cy="2354491"/>
          </a:xfrm>
          <a:prstGeom prst="rect">
            <a:avLst/>
          </a:prstGeom>
          <a:noFill/>
        </p:spPr>
        <p:txBody>
          <a:bodyPr wrap="square" rtlCol="0">
            <a:spAutoFit/>
          </a:bodyPr>
          <a:lstStyle/>
          <a:p>
            <a:pPr marL="285750" indent="-285750" algn="ctr">
              <a:buFont typeface="Arial" panose="020B0604020202020204" pitchFamily="34" charset="0"/>
              <a:buChar char="•"/>
            </a:pPr>
            <a:r>
              <a:rPr lang="en-US" sz="2100" dirty="0" smtClean="0"/>
              <a:t>Before training the model, the Arabic sentiment dataset was prepared to ensure better performance and stable learning. The text samples—mainly tweets and social media posts—often contain noise such as mentions, hashtags, </a:t>
            </a:r>
            <a:r>
              <a:rPr lang="en-US" sz="2100" dirty="0" err="1" smtClean="0"/>
              <a:t>emojis</a:t>
            </a:r>
            <a:r>
              <a:rPr lang="en-US" sz="2100" dirty="0" smtClean="0"/>
              <a:t>, and inconsistent writing. To address this, the dataset was cleaned by removing unnecessary symbols, normalizing Arabic characters, and handling repeated letters common in online writing. Basic text formatting issues were corrected to make the dataset more suitable for machine learning.</a:t>
            </a:r>
            <a:endParaRPr lang="en-US" sz="2100" dirty="0"/>
          </a:p>
        </p:txBody>
      </p:sp>
      <p:sp>
        <p:nvSpPr>
          <p:cNvPr id="6" name="Rounded Rectangle 5"/>
          <p:cNvSpPr/>
          <p:nvPr/>
        </p:nvSpPr>
        <p:spPr>
          <a:xfrm>
            <a:off x="1497027" y="4479346"/>
            <a:ext cx="9160184" cy="19016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extBox 1"/>
          <p:cNvSpPr txBox="1"/>
          <p:nvPr/>
        </p:nvSpPr>
        <p:spPr>
          <a:xfrm>
            <a:off x="1497027" y="4728987"/>
            <a:ext cx="9160184" cy="1384995"/>
          </a:xfrm>
          <a:prstGeom prst="rect">
            <a:avLst/>
          </a:prstGeom>
          <a:noFill/>
        </p:spPr>
        <p:txBody>
          <a:bodyPr wrap="square" rtlCol="0">
            <a:spAutoFit/>
          </a:bodyPr>
          <a:lstStyle/>
          <a:p>
            <a:pPr marL="342900" indent="-342900" algn="ctr">
              <a:buFont typeface="Arial" panose="020B0604020202020204" pitchFamily="34" charset="0"/>
              <a:buChar char="•"/>
            </a:pPr>
            <a:r>
              <a:rPr lang="en-US" sz="2100" dirty="0" smtClean="0"/>
              <a:t>After cleaning, the data was tokenized using the </a:t>
            </a:r>
            <a:r>
              <a:rPr lang="en-US" sz="2100" b="1" dirty="0" smtClean="0"/>
              <a:t>AraBERTv2 </a:t>
            </a:r>
            <a:r>
              <a:rPr lang="en-US" sz="2100" b="1" dirty="0" err="1" smtClean="0"/>
              <a:t>tokenizer</a:t>
            </a:r>
            <a:r>
              <a:rPr lang="en-US" sz="2100" dirty="0" smtClean="0"/>
              <a:t>, which is specifically designed for Arabic morphology and dialect variations. This step transforms the text into a format that the transformer model can understand and learn from effectively.</a:t>
            </a:r>
            <a:endParaRPr lang="en-US" sz="2100" dirty="0"/>
          </a:p>
        </p:txBody>
      </p:sp>
    </p:spTree>
    <p:extLst>
      <p:ext uri="{BB962C8B-B14F-4D97-AF65-F5344CB8AC3E}">
        <p14:creationId xmlns:p14="http://schemas.microsoft.com/office/powerpoint/2010/main" val="2095566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Our Approach — From Text to Predictions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25984" y="1545578"/>
            <a:ext cx="6166130" cy="466937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TextBox 8"/>
          <p:cNvSpPr txBox="1"/>
          <p:nvPr/>
        </p:nvSpPr>
        <p:spPr>
          <a:xfrm>
            <a:off x="525984" y="1702437"/>
            <a:ext cx="5988107" cy="4401205"/>
          </a:xfrm>
          <a:prstGeom prst="rect">
            <a:avLst/>
          </a:prstGeom>
          <a:noFill/>
        </p:spPr>
        <p:txBody>
          <a:bodyPr wrap="square" rtlCol="0">
            <a:spAutoFit/>
          </a:bodyPr>
          <a:lstStyle/>
          <a:p>
            <a:pPr marL="285750" indent="-285750" algn="ctr">
              <a:buFont typeface="Arial" panose="020B0604020202020204" pitchFamily="34" charset="0"/>
              <a:buChar char="•"/>
            </a:pPr>
            <a:r>
              <a:rPr lang="en-US" sz="2000" dirty="0" smtClean="0"/>
              <a:t>Our project follows a complete NLP pipeline that transforms raw Arabic text into accurate sentiment predictions. After preprocessing the dataset, we tokenized the text using the official </a:t>
            </a:r>
            <a:r>
              <a:rPr lang="en-US" sz="2000" dirty="0" err="1" smtClean="0"/>
              <a:t>AraBERT</a:t>
            </a:r>
            <a:r>
              <a:rPr lang="en-US" sz="2000" dirty="0" smtClean="0"/>
              <a:t> </a:t>
            </a:r>
            <a:r>
              <a:rPr lang="en-US" sz="2000" dirty="0" err="1" smtClean="0"/>
              <a:t>tokenizer</a:t>
            </a:r>
            <a:r>
              <a:rPr lang="en-US" sz="2000" dirty="0" smtClean="0"/>
              <a:t> to match the model’s vocabulary. The processed tokens were then fed into </a:t>
            </a:r>
            <a:r>
              <a:rPr lang="en-US" sz="2000" b="1" dirty="0" smtClean="0"/>
              <a:t>AraBERTv2</a:t>
            </a:r>
            <a:r>
              <a:rPr lang="en-US" sz="2000" dirty="0" smtClean="0"/>
              <a:t>, which was fine-tuned on our sentiment dataset to learn emotional patterns across multiple dialects. During training, the model adjusted its internal parameters to classify texts into positive, negative, or neutral categories. Finally, when given a new Arabic sentence, the fine-tuned model analyzes the context, applies its learned understanding, and outputs the predicted sentiment with high accuracy.</a:t>
            </a:r>
            <a:endParaRPr lang="en-US" sz="1600" dirty="0"/>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2114" y="1702437"/>
            <a:ext cx="4871405" cy="4304964"/>
          </a:xfrm>
          <a:prstGeom prst="rect">
            <a:avLst/>
          </a:prstGeom>
        </p:spPr>
      </p:pic>
    </p:spTree>
    <p:extLst>
      <p:ext uri="{BB962C8B-B14F-4D97-AF65-F5344CB8AC3E}">
        <p14:creationId xmlns:p14="http://schemas.microsoft.com/office/powerpoint/2010/main" val="1267759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Turning Text into Numbers: Features &amp; </a:t>
            </a:r>
            <a:r>
              <a:rPr lang="en-US" sz="3200" b="1" dirty="0" err="1" smtClean="0"/>
              <a:t>Embeddings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ounded Rectangle 6"/>
          <p:cNvSpPr/>
          <p:nvPr/>
        </p:nvSpPr>
        <p:spPr>
          <a:xfrm>
            <a:off x="307976" y="2006826"/>
            <a:ext cx="3611267" cy="336628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ounded Rectangle 9"/>
          <p:cNvSpPr/>
          <p:nvPr/>
        </p:nvSpPr>
        <p:spPr>
          <a:xfrm>
            <a:off x="8364946" y="2006824"/>
            <a:ext cx="3611267" cy="336628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4376681" y="2006823"/>
            <a:ext cx="3611267" cy="336628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235147" y="2474249"/>
            <a:ext cx="3611267"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To analyze Arabic text, the first step is to convert words into numerical representations that a machine learning model can understand. Instead of using raw text, we transform each word or sentence into a structured numerical form.</a:t>
            </a:r>
            <a:endParaRPr lang="en-US" sz="1900" dirty="0"/>
          </a:p>
        </p:txBody>
      </p:sp>
      <p:sp>
        <p:nvSpPr>
          <p:cNvPr id="13" name="TextBox 12"/>
          <p:cNvSpPr txBox="1"/>
          <p:nvPr/>
        </p:nvSpPr>
        <p:spPr>
          <a:xfrm>
            <a:off x="4303852" y="2474249"/>
            <a:ext cx="3611269"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Traditional methods like </a:t>
            </a:r>
            <a:r>
              <a:rPr lang="en-US" sz="1900" b="1" dirty="0" smtClean="0"/>
              <a:t>TF-IDF</a:t>
            </a:r>
            <a:r>
              <a:rPr lang="en-US" sz="1900" dirty="0" smtClean="0"/>
              <a:t> represent text based on word frequency, but they ignore context. Newer approaches use </a:t>
            </a:r>
            <a:r>
              <a:rPr lang="en-US" sz="1900" b="1" dirty="0" err="1" smtClean="0"/>
              <a:t>embeddings</a:t>
            </a:r>
            <a:r>
              <a:rPr lang="en-US" sz="1900" dirty="0" smtClean="0"/>
              <a:t>, which create dense numerical vectors that capture meaning and relationships between words.</a:t>
            </a:r>
            <a:endParaRPr lang="en-US" sz="1900" dirty="0"/>
          </a:p>
        </p:txBody>
      </p:sp>
      <p:sp>
        <p:nvSpPr>
          <p:cNvPr id="14" name="TextBox 13"/>
          <p:cNvSpPr txBox="1"/>
          <p:nvPr/>
        </p:nvSpPr>
        <p:spPr>
          <a:xfrm>
            <a:off x="8149789" y="2474249"/>
            <a:ext cx="3611269"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With models such as </a:t>
            </a:r>
            <a:r>
              <a:rPr lang="en-US" sz="1900" b="1" dirty="0" smtClean="0"/>
              <a:t>Word2Vec, </a:t>
            </a:r>
            <a:r>
              <a:rPr lang="en-US" sz="1900" b="1" dirty="0" err="1" smtClean="0"/>
              <a:t>FastText</a:t>
            </a:r>
            <a:r>
              <a:rPr lang="en-US" sz="1900" b="1" dirty="0" smtClean="0"/>
              <a:t>, and </a:t>
            </a:r>
            <a:r>
              <a:rPr lang="en-US" sz="1900" b="1" dirty="0" err="1" smtClean="0"/>
              <a:t>AraBERT</a:t>
            </a:r>
            <a:r>
              <a:rPr lang="en-US" sz="1900" b="1" dirty="0" smtClean="0"/>
              <a:t> </a:t>
            </a:r>
            <a:r>
              <a:rPr lang="en-US" sz="1900" b="1" dirty="0" err="1" smtClean="0"/>
              <a:t>embeddings</a:t>
            </a:r>
            <a:r>
              <a:rPr lang="en-US" sz="1900" dirty="0" smtClean="0"/>
              <a:t>, we can represent similar words with similar vectors. This allows the model to better understand the context, sentiment, and emotion behind Arabic text.</a:t>
            </a:r>
            <a:endParaRPr lang="en-US" sz="1900" dirty="0"/>
          </a:p>
        </p:txBody>
      </p:sp>
    </p:spTree>
    <p:extLst>
      <p:ext uri="{BB962C8B-B14F-4D97-AF65-F5344CB8AC3E}">
        <p14:creationId xmlns:p14="http://schemas.microsoft.com/office/powerpoint/2010/main" val="3091171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Models We Built: ML, LSTM, and </a:t>
            </a:r>
            <a:r>
              <a:rPr lang="en-US" sz="3200" b="1" dirty="0" err="1" smtClean="0"/>
              <a:t>AraBERT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ounded Rectangle 6"/>
          <p:cNvSpPr/>
          <p:nvPr/>
        </p:nvSpPr>
        <p:spPr>
          <a:xfrm>
            <a:off x="243240" y="1917812"/>
            <a:ext cx="3691707" cy="34553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ounded Rectangle 9"/>
          <p:cNvSpPr/>
          <p:nvPr/>
        </p:nvSpPr>
        <p:spPr>
          <a:xfrm>
            <a:off x="8300206" y="1917812"/>
            <a:ext cx="3691705" cy="348289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4271722" y="1917812"/>
            <a:ext cx="3691707" cy="345841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243239" y="2163685"/>
            <a:ext cx="3691708" cy="3108543"/>
          </a:xfrm>
          <a:prstGeom prst="rect">
            <a:avLst/>
          </a:prstGeom>
          <a:noFill/>
        </p:spPr>
        <p:txBody>
          <a:bodyPr wrap="square" rtlCol="0">
            <a:spAutoFit/>
          </a:bodyPr>
          <a:lstStyle/>
          <a:p>
            <a:pPr algn="ctr"/>
            <a:r>
              <a:rPr lang="en-US" sz="2000" b="1" dirty="0" smtClean="0"/>
              <a:t>Machine Learning (ML) Model</a:t>
            </a:r>
          </a:p>
          <a:p>
            <a:pPr algn="ctr"/>
            <a:r>
              <a:rPr lang="en-US" sz="1600" dirty="0" smtClean="0"/>
              <a:t>Our machine learning model uses traditional techniques that turn text into numerical features using methods like TF-IDF. This model learns patterns by identifying which words appear more often in positive, negative, or neutral sentences. ML models are fast, simple, and provide a good baseline for comparison, but they cannot fully understand context or the deeper meaning in Arabic sentences.</a:t>
            </a:r>
            <a:endParaRPr lang="en-US" sz="1600" dirty="0"/>
          </a:p>
        </p:txBody>
      </p:sp>
      <p:sp>
        <p:nvSpPr>
          <p:cNvPr id="13" name="TextBox 12"/>
          <p:cNvSpPr txBox="1"/>
          <p:nvPr/>
        </p:nvSpPr>
        <p:spPr>
          <a:xfrm>
            <a:off x="4271722" y="2409905"/>
            <a:ext cx="3691709" cy="2616101"/>
          </a:xfrm>
          <a:prstGeom prst="rect">
            <a:avLst/>
          </a:prstGeom>
          <a:noFill/>
        </p:spPr>
        <p:txBody>
          <a:bodyPr wrap="square" rtlCol="0">
            <a:spAutoFit/>
          </a:bodyPr>
          <a:lstStyle/>
          <a:p>
            <a:pPr algn="ctr"/>
            <a:r>
              <a:rPr lang="en-US" sz="2000" b="1" dirty="0" smtClean="0"/>
              <a:t>LSTM Deep Learning Model</a:t>
            </a:r>
          </a:p>
          <a:p>
            <a:pPr algn="ctr"/>
            <a:r>
              <a:rPr lang="en-US" sz="1600" dirty="0" smtClean="0"/>
              <a:t>The LSTM model improves performance by learning the order of words and the relationships between them. It processes text as a sequence, which helps it understand long sentences, emotional flow, and variations in dialect. LSTM models capture more meaning than ML models, making them better at handling real Arabic language structures.</a:t>
            </a:r>
            <a:endParaRPr lang="en-US" sz="2000" dirty="0"/>
          </a:p>
        </p:txBody>
      </p:sp>
      <p:sp>
        <p:nvSpPr>
          <p:cNvPr id="14" name="TextBox 13"/>
          <p:cNvSpPr txBox="1"/>
          <p:nvPr/>
        </p:nvSpPr>
        <p:spPr>
          <a:xfrm>
            <a:off x="8300204" y="2416607"/>
            <a:ext cx="3691707" cy="2636992"/>
          </a:xfrm>
          <a:prstGeom prst="rect">
            <a:avLst/>
          </a:prstGeom>
          <a:noFill/>
        </p:spPr>
        <p:txBody>
          <a:bodyPr wrap="square" rtlCol="0">
            <a:spAutoFit/>
          </a:bodyPr>
          <a:lstStyle/>
          <a:p>
            <a:pPr algn="ctr"/>
            <a:r>
              <a:rPr lang="en-US" sz="2000" b="1" dirty="0" err="1" smtClean="0"/>
              <a:t>AraBERT</a:t>
            </a:r>
            <a:r>
              <a:rPr lang="en-US" sz="2000" b="1" dirty="0" smtClean="0"/>
              <a:t> Transformer Model</a:t>
            </a:r>
          </a:p>
          <a:p>
            <a:pPr algn="ctr"/>
            <a:r>
              <a:rPr lang="en-US" sz="1600" dirty="0" err="1" smtClean="0"/>
              <a:t>AraBERT</a:t>
            </a:r>
            <a:r>
              <a:rPr lang="en-US" sz="1600" dirty="0" smtClean="0"/>
              <a:t> is the most advanced model we used. It is a transformer designed specifically for Arabic and trained on huge amounts of Arabic text. This allows it to understand context, slang, dialects, and spelling variations much more accurately. By fine-tuning </a:t>
            </a:r>
            <a:r>
              <a:rPr lang="en-US" sz="1600" dirty="0" err="1" smtClean="0"/>
              <a:t>AraBERT</a:t>
            </a:r>
            <a:r>
              <a:rPr lang="en-US" sz="1600" dirty="0" smtClean="0"/>
              <a:t> on our sentiment dataset, it achieved the best results among all models.</a:t>
            </a:r>
            <a:endParaRPr lang="en-US" sz="1600" dirty="0"/>
          </a:p>
        </p:txBody>
      </p:sp>
    </p:spTree>
    <p:extLst>
      <p:ext uri="{BB962C8B-B14F-4D97-AF65-F5344CB8AC3E}">
        <p14:creationId xmlns:p14="http://schemas.microsoft.com/office/powerpoint/2010/main" val="2745378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How We Trained and Tested Our Models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6" y="1424198"/>
            <a:ext cx="9160183" cy="149702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6" y="1602571"/>
            <a:ext cx="9160184" cy="1200329"/>
          </a:xfrm>
          <a:prstGeom prst="rect">
            <a:avLst/>
          </a:prstGeom>
          <a:noFill/>
        </p:spPr>
        <p:txBody>
          <a:bodyPr wrap="square" rtlCol="0">
            <a:spAutoFit/>
          </a:bodyPr>
          <a:lstStyle/>
          <a:p>
            <a:r>
              <a:rPr lang="en-US" sz="1600" b="1" dirty="0" smtClean="0"/>
              <a:t>Training Setup</a:t>
            </a:r>
          </a:p>
          <a:p>
            <a:r>
              <a:rPr lang="en-US" sz="1400" dirty="0" smtClean="0"/>
              <a:t>We trained our models using the Arabic sentiment dataset that comes with AraBERTv2 through Hugging Face. The dataset includes tweets and short Arabic posts labeled as positive, negative, or neutral. For each model—ML, LSTM, and </a:t>
            </a:r>
            <a:r>
              <a:rPr lang="en-US" sz="1400" dirty="0" err="1" smtClean="0"/>
              <a:t>AraBERT</a:t>
            </a:r>
            <a:r>
              <a:rPr lang="en-US" sz="1400" dirty="0" smtClean="0"/>
              <a:t>—we split the dataset into training and testing portions so the models could learn from one part of the data and be evaluated on unseen text.</a:t>
            </a:r>
            <a:endParaRPr lang="en-US" sz="1400" dirty="0"/>
          </a:p>
        </p:txBody>
      </p:sp>
      <p:sp>
        <p:nvSpPr>
          <p:cNvPr id="6" name="Rounded Rectangle 5"/>
          <p:cNvSpPr/>
          <p:nvPr/>
        </p:nvSpPr>
        <p:spPr>
          <a:xfrm>
            <a:off x="1497025" y="3180276"/>
            <a:ext cx="9160184" cy="149702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extBox 1"/>
          <p:cNvSpPr txBox="1"/>
          <p:nvPr/>
        </p:nvSpPr>
        <p:spPr>
          <a:xfrm>
            <a:off x="1497024" y="3328624"/>
            <a:ext cx="9160184" cy="1200329"/>
          </a:xfrm>
          <a:prstGeom prst="rect">
            <a:avLst/>
          </a:prstGeom>
          <a:noFill/>
        </p:spPr>
        <p:txBody>
          <a:bodyPr wrap="square" rtlCol="0">
            <a:spAutoFit/>
          </a:bodyPr>
          <a:lstStyle/>
          <a:p>
            <a:r>
              <a:rPr lang="en-US" sz="1600" b="1" dirty="0" smtClean="0"/>
              <a:t>Training Process</a:t>
            </a:r>
          </a:p>
          <a:p>
            <a:r>
              <a:rPr lang="en-US" sz="1400" dirty="0" smtClean="0"/>
              <a:t>The ML model was trained using TF-IDF features and a simple classifier, allowing it to learn basic patterns in the text. The LSTM model was trained using word </a:t>
            </a:r>
            <a:r>
              <a:rPr lang="en-US" sz="1400" dirty="0" err="1" smtClean="0"/>
              <a:t>embeddings</a:t>
            </a:r>
            <a:r>
              <a:rPr lang="en-US" sz="1400" dirty="0" smtClean="0"/>
              <a:t> to capture word order and sentence meaning. AraBERTv2, the most advanced model, was fine-tuned directly on the dataset using the Transformers library, allowing it to learn deeper context and handle dialects and informal writing more effectively.</a:t>
            </a:r>
            <a:endParaRPr lang="en-US" sz="1400" dirty="0"/>
          </a:p>
        </p:txBody>
      </p:sp>
      <p:sp>
        <p:nvSpPr>
          <p:cNvPr id="12" name="Rounded Rectangle 11"/>
          <p:cNvSpPr/>
          <p:nvPr/>
        </p:nvSpPr>
        <p:spPr>
          <a:xfrm>
            <a:off x="1497024" y="4995725"/>
            <a:ext cx="9160184" cy="149702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TextBox 12"/>
          <p:cNvSpPr txBox="1"/>
          <p:nvPr/>
        </p:nvSpPr>
        <p:spPr>
          <a:xfrm>
            <a:off x="1497024" y="5251795"/>
            <a:ext cx="9160184" cy="984885"/>
          </a:xfrm>
          <a:prstGeom prst="rect">
            <a:avLst/>
          </a:prstGeom>
          <a:noFill/>
        </p:spPr>
        <p:txBody>
          <a:bodyPr wrap="square" rtlCol="0">
            <a:spAutoFit/>
          </a:bodyPr>
          <a:lstStyle/>
          <a:p>
            <a:r>
              <a:rPr lang="en-US" sz="1600" b="1" dirty="0" smtClean="0"/>
              <a:t>Testing and Evaluation</a:t>
            </a:r>
          </a:p>
          <a:p>
            <a:r>
              <a:rPr lang="en-US" sz="1400" dirty="0" smtClean="0"/>
              <a:t>After training, all models were tested on the same dataset portion to compare their performance fairly. We evaluated them using accuracy, precision, recall, and F1-score. The results clearly showed that AraBERTv2 achieved the highest performance, outperforming both LSTM and traditional ML, confirming its strength in understanding Arabic sentiment.</a:t>
            </a:r>
            <a:endParaRPr lang="en-US" sz="1400" dirty="0"/>
          </a:p>
        </p:txBody>
      </p:sp>
    </p:spTree>
    <p:extLst>
      <p:ext uri="{BB962C8B-B14F-4D97-AF65-F5344CB8AC3E}">
        <p14:creationId xmlns:p14="http://schemas.microsoft.com/office/powerpoint/2010/main" val="2566234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2" grpId="0"/>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Model Performance Comparison (Results)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2149145891"/>
              </p:ext>
            </p:extLst>
          </p:nvPr>
        </p:nvGraphicFramePr>
        <p:xfrm>
          <a:off x="614993" y="1569330"/>
          <a:ext cx="10592475" cy="1508760"/>
        </p:xfrm>
        <a:graphic>
          <a:graphicData uri="http://schemas.openxmlformats.org/drawingml/2006/table">
            <a:tbl>
              <a:tblPr firstRow="1" bandRow="1">
                <a:tableStyleId>{5C22544A-7EE6-4342-B048-85BDC9FD1C3A}</a:tableStyleId>
              </a:tblPr>
              <a:tblGrid>
                <a:gridCol w="4596278"/>
                <a:gridCol w="1634591"/>
                <a:gridCol w="1610315"/>
                <a:gridCol w="1456566"/>
                <a:gridCol w="1294725"/>
              </a:tblGrid>
              <a:tr h="370840">
                <a:tc>
                  <a:txBody>
                    <a:bodyPr/>
                    <a:lstStyle/>
                    <a:p>
                      <a:pPr algn="ctr"/>
                      <a:r>
                        <a:rPr lang="en-US" sz="2000" dirty="0" smtClean="0">
                          <a:solidFill>
                            <a:schemeClr val="tx1"/>
                          </a:solidFill>
                        </a:rPr>
                        <a:t>Model</a:t>
                      </a:r>
                      <a:endParaRPr lang="en-US" sz="2000" dirty="0">
                        <a:solidFill>
                          <a:schemeClr val="tx1"/>
                        </a:solidFill>
                      </a:endParaRPr>
                    </a:p>
                  </a:txBody>
                  <a:tcPr/>
                </a:tc>
                <a:tc>
                  <a:txBody>
                    <a:bodyPr/>
                    <a:lstStyle/>
                    <a:p>
                      <a:pPr algn="ctr"/>
                      <a:r>
                        <a:rPr lang="en-US" sz="2000" dirty="0" smtClean="0">
                          <a:solidFill>
                            <a:schemeClr val="tx1"/>
                          </a:solidFill>
                        </a:rPr>
                        <a:t>Accuracy</a:t>
                      </a:r>
                      <a:endParaRPr lang="en-US" dirty="0">
                        <a:solidFill>
                          <a:schemeClr val="tx1"/>
                        </a:solidFill>
                      </a:endParaRPr>
                    </a:p>
                  </a:txBody>
                  <a:tcPr/>
                </a:tc>
                <a:tc>
                  <a:txBody>
                    <a:bodyPr/>
                    <a:lstStyle/>
                    <a:p>
                      <a:pPr algn="ctr"/>
                      <a:r>
                        <a:rPr lang="en-US" sz="2000" dirty="0" smtClean="0">
                          <a:solidFill>
                            <a:schemeClr val="tx1"/>
                          </a:solidFill>
                        </a:rPr>
                        <a:t>Precision</a:t>
                      </a:r>
                      <a:endParaRPr lang="en-US" sz="2000" dirty="0">
                        <a:solidFill>
                          <a:schemeClr val="tx1"/>
                        </a:solidFill>
                      </a:endParaRPr>
                    </a:p>
                  </a:txBody>
                  <a:tcPr/>
                </a:tc>
                <a:tc>
                  <a:txBody>
                    <a:bodyPr/>
                    <a:lstStyle/>
                    <a:p>
                      <a:pPr algn="ctr"/>
                      <a:r>
                        <a:rPr lang="en-US" sz="2000" b="1" dirty="0" smtClean="0">
                          <a:solidFill>
                            <a:schemeClr val="tx1"/>
                          </a:solidFill>
                        </a:rPr>
                        <a:t>Recall</a:t>
                      </a:r>
                      <a:endParaRPr lang="en-US" sz="2000" b="1" dirty="0">
                        <a:solidFill>
                          <a:schemeClr val="tx1"/>
                        </a:solidFill>
                      </a:endParaRPr>
                    </a:p>
                  </a:txBody>
                  <a:tcPr/>
                </a:tc>
                <a:tc>
                  <a:txBody>
                    <a:bodyPr/>
                    <a:lstStyle/>
                    <a:p>
                      <a:pPr algn="ctr"/>
                      <a:r>
                        <a:rPr lang="en-US" sz="2000" dirty="0" smtClean="0">
                          <a:solidFill>
                            <a:schemeClr val="tx1"/>
                          </a:solidFill>
                        </a:rPr>
                        <a:t>F1-Score</a:t>
                      </a:r>
                      <a:endParaRPr lang="en-US" sz="2000" dirty="0">
                        <a:solidFill>
                          <a:schemeClr val="tx1"/>
                        </a:solidFill>
                      </a:endParaRPr>
                    </a:p>
                  </a:txBody>
                  <a:tcPr/>
                </a:tc>
              </a:tr>
              <a:tr h="370840">
                <a:tc>
                  <a:txBody>
                    <a:bodyPr/>
                    <a:lstStyle/>
                    <a:p>
                      <a:pPr algn="ctr"/>
                      <a:r>
                        <a:rPr lang="en-US" sz="1800" b="0" dirty="0" smtClean="0"/>
                        <a:t>ML Baseline (TF-IDF + Logistic Regression)</a:t>
                      </a:r>
                      <a:endParaRPr lang="en-US" sz="1800" b="0" dirty="0"/>
                    </a:p>
                  </a:txBody>
                  <a:tcPr/>
                </a:tc>
                <a:tc>
                  <a:txBody>
                    <a:bodyPr/>
                    <a:lstStyle/>
                    <a:p>
                      <a:pPr algn="ctr"/>
                      <a:r>
                        <a:rPr lang="en-US" dirty="0" smtClean="0">
                          <a:latin typeface="+mn-lt"/>
                        </a:rPr>
                        <a:t>0.78</a:t>
                      </a:r>
                      <a:endParaRPr lang="en-US" dirty="0">
                        <a:latin typeface="+mn-lt"/>
                      </a:endParaRPr>
                    </a:p>
                  </a:txBody>
                  <a:tcPr/>
                </a:tc>
                <a:tc>
                  <a:txBody>
                    <a:bodyPr/>
                    <a:lstStyle/>
                    <a:p>
                      <a:pPr algn="ctr"/>
                      <a:r>
                        <a:rPr lang="en-US" dirty="0" smtClean="0">
                          <a:latin typeface="+mn-lt"/>
                        </a:rPr>
                        <a:t>0.76</a:t>
                      </a:r>
                      <a:endParaRPr lang="en-US" dirty="0">
                        <a:latin typeface="+mn-lt"/>
                      </a:endParaRPr>
                    </a:p>
                  </a:txBody>
                  <a:tcPr/>
                </a:tc>
                <a:tc>
                  <a:txBody>
                    <a:bodyPr/>
                    <a:lstStyle/>
                    <a:p>
                      <a:pPr algn="ctr"/>
                      <a:r>
                        <a:rPr lang="en-US" dirty="0" smtClean="0">
                          <a:latin typeface="+mn-lt"/>
                        </a:rPr>
                        <a:t>0.75</a:t>
                      </a:r>
                      <a:endParaRPr lang="en-US" dirty="0">
                        <a:latin typeface="+mn-lt"/>
                      </a:endParaRPr>
                    </a:p>
                  </a:txBody>
                  <a:tcPr/>
                </a:tc>
                <a:tc>
                  <a:txBody>
                    <a:bodyPr/>
                    <a:lstStyle/>
                    <a:p>
                      <a:pPr algn="ctr"/>
                      <a:r>
                        <a:rPr lang="en-US" dirty="0" smtClean="0">
                          <a:latin typeface="+mn-lt"/>
                        </a:rPr>
                        <a:t>0.75</a:t>
                      </a:r>
                      <a:endParaRPr lang="en-US" dirty="0">
                        <a:latin typeface="+mn-lt"/>
                      </a:endParaRPr>
                    </a:p>
                  </a:txBody>
                  <a:tcPr/>
                </a:tc>
              </a:tr>
              <a:tr h="370840">
                <a:tc>
                  <a:txBody>
                    <a:bodyPr/>
                    <a:lstStyle/>
                    <a:p>
                      <a:pPr algn="ctr"/>
                      <a:r>
                        <a:rPr lang="en-US" dirty="0" smtClean="0"/>
                        <a:t>LSTM Model</a:t>
                      </a:r>
                      <a:endParaRPr lang="en-US" dirty="0"/>
                    </a:p>
                  </a:txBody>
                  <a:tcPr/>
                </a:tc>
                <a:tc>
                  <a:txBody>
                    <a:bodyPr/>
                    <a:lstStyle/>
                    <a:p>
                      <a:pPr algn="ctr"/>
                      <a:r>
                        <a:rPr lang="en-US" sz="1800" dirty="0" smtClean="0">
                          <a:latin typeface="+mn-lt"/>
                        </a:rPr>
                        <a:t>0.84</a:t>
                      </a:r>
                      <a:endParaRPr lang="en-US" sz="1800" dirty="0">
                        <a:latin typeface="+mn-lt"/>
                      </a:endParaRPr>
                    </a:p>
                  </a:txBody>
                  <a:tcPr/>
                </a:tc>
                <a:tc>
                  <a:txBody>
                    <a:bodyPr/>
                    <a:lstStyle/>
                    <a:p>
                      <a:pPr algn="ctr"/>
                      <a:r>
                        <a:rPr lang="en-US" dirty="0" smtClean="0">
                          <a:latin typeface="+mn-lt"/>
                        </a:rPr>
                        <a:t>0.83</a:t>
                      </a:r>
                      <a:endParaRPr lang="en-US" dirty="0">
                        <a:latin typeface="+mn-lt"/>
                      </a:endParaRPr>
                    </a:p>
                  </a:txBody>
                  <a:tcPr/>
                </a:tc>
                <a:tc>
                  <a:txBody>
                    <a:bodyPr/>
                    <a:lstStyle/>
                    <a:p>
                      <a:pPr algn="ctr"/>
                      <a:r>
                        <a:rPr lang="en-US" dirty="0" smtClean="0">
                          <a:latin typeface="+mn-lt"/>
                        </a:rPr>
                        <a:t>0.82</a:t>
                      </a:r>
                      <a:endParaRPr lang="en-US" dirty="0">
                        <a:latin typeface="+mn-lt"/>
                      </a:endParaRPr>
                    </a:p>
                  </a:txBody>
                  <a:tcPr/>
                </a:tc>
                <a:tc>
                  <a:txBody>
                    <a:bodyPr/>
                    <a:lstStyle/>
                    <a:p>
                      <a:pPr algn="ctr"/>
                      <a:r>
                        <a:rPr lang="en-US" dirty="0" smtClean="0">
                          <a:latin typeface="+mn-lt"/>
                        </a:rPr>
                        <a:t>0.82</a:t>
                      </a:r>
                      <a:endParaRPr lang="en-US" dirty="0">
                        <a:latin typeface="+mn-lt"/>
                      </a:endParaRPr>
                    </a:p>
                  </a:txBody>
                  <a:tcPr/>
                </a:tc>
              </a:tr>
              <a:tr h="370840">
                <a:tc>
                  <a:txBody>
                    <a:bodyPr/>
                    <a:lstStyle/>
                    <a:p>
                      <a:pPr algn="ctr"/>
                      <a:r>
                        <a:rPr lang="en-US" dirty="0" smtClean="0">
                          <a:solidFill>
                            <a:srgbClr val="C00000"/>
                          </a:solidFill>
                        </a:rPr>
                        <a:t>AraBERTv2 (Fine-Tuned)</a:t>
                      </a:r>
                      <a:endParaRPr lang="en-US" dirty="0">
                        <a:solidFill>
                          <a:srgbClr val="C00000"/>
                        </a:solidFill>
                      </a:endParaRPr>
                    </a:p>
                  </a:txBody>
                  <a:tcPr/>
                </a:tc>
                <a:tc>
                  <a:txBody>
                    <a:bodyPr/>
                    <a:lstStyle/>
                    <a:p>
                      <a:pPr algn="ctr"/>
                      <a:r>
                        <a:rPr lang="en-US" dirty="0" smtClean="0">
                          <a:solidFill>
                            <a:srgbClr val="C00000"/>
                          </a:solidFill>
                        </a:rPr>
                        <a:t>0.9319</a:t>
                      </a:r>
                      <a:endParaRPr lang="en-US" dirty="0">
                        <a:solidFill>
                          <a:srgbClr val="C00000"/>
                        </a:solidFill>
                      </a:endParaRPr>
                    </a:p>
                  </a:txBody>
                  <a:tcPr/>
                </a:tc>
                <a:tc>
                  <a:txBody>
                    <a:bodyPr/>
                    <a:lstStyle/>
                    <a:p>
                      <a:pPr algn="ctr"/>
                      <a:r>
                        <a:rPr lang="en-US" dirty="0" smtClean="0">
                          <a:solidFill>
                            <a:srgbClr val="C00000"/>
                          </a:solidFill>
                        </a:rPr>
                        <a:t>0.9364</a:t>
                      </a:r>
                      <a:endParaRPr lang="en-US" dirty="0">
                        <a:solidFill>
                          <a:srgbClr val="C00000"/>
                        </a:solidFill>
                      </a:endParaRPr>
                    </a:p>
                  </a:txBody>
                  <a:tcPr/>
                </a:tc>
                <a:tc>
                  <a:txBody>
                    <a:bodyPr/>
                    <a:lstStyle/>
                    <a:p>
                      <a:pPr algn="ctr"/>
                      <a:r>
                        <a:rPr lang="en-US" dirty="0" smtClean="0">
                          <a:solidFill>
                            <a:srgbClr val="C00000"/>
                          </a:solidFill>
                        </a:rPr>
                        <a:t>0.93</a:t>
                      </a:r>
                      <a:endParaRPr lang="en-US" dirty="0">
                        <a:solidFill>
                          <a:srgbClr val="C00000"/>
                        </a:solidFill>
                      </a:endParaRPr>
                    </a:p>
                  </a:txBody>
                  <a:tcPr/>
                </a:tc>
                <a:tc>
                  <a:txBody>
                    <a:bodyPr/>
                    <a:lstStyle/>
                    <a:p>
                      <a:pPr algn="ctr"/>
                      <a:r>
                        <a:rPr lang="en-US" dirty="0" smtClean="0">
                          <a:solidFill>
                            <a:srgbClr val="C00000"/>
                          </a:solidFill>
                        </a:rPr>
                        <a:t>0.9323</a:t>
                      </a:r>
                      <a:endParaRPr lang="en-US" dirty="0">
                        <a:solidFill>
                          <a:srgbClr val="C00000"/>
                        </a:solidFill>
                      </a:endParaRPr>
                    </a:p>
                  </a:txBody>
                  <a:tcPr/>
                </a:tc>
              </a:tr>
            </a:tbl>
          </a:graphicData>
        </a:graphic>
      </p:graphicFrame>
      <p:sp>
        <p:nvSpPr>
          <p:cNvPr id="19" name="Rounded Rectangle 18"/>
          <p:cNvSpPr/>
          <p:nvPr/>
        </p:nvSpPr>
        <p:spPr>
          <a:xfrm>
            <a:off x="1404304" y="3911796"/>
            <a:ext cx="9160184" cy="149702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TextBox 19"/>
          <p:cNvSpPr txBox="1"/>
          <p:nvPr/>
        </p:nvSpPr>
        <p:spPr>
          <a:xfrm>
            <a:off x="1404304" y="4152477"/>
            <a:ext cx="9160184" cy="1015663"/>
          </a:xfrm>
          <a:prstGeom prst="rect">
            <a:avLst/>
          </a:prstGeom>
          <a:noFill/>
        </p:spPr>
        <p:txBody>
          <a:bodyPr wrap="square" rtlCol="0">
            <a:spAutoFit/>
          </a:bodyPr>
          <a:lstStyle/>
          <a:p>
            <a:pPr algn="ctr"/>
            <a:r>
              <a:rPr lang="en-US" sz="2000" b="1" dirty="0" smtClean="0"/>
              <a:t>AraBERTv2 achieved the highest performance</a:t>
            </a:r>
            <a:r>
              <a:rPr lang="en-US" sz="2000" dirty="0" smtClean="0"/>
              <a:t>, outperforming both the ML baseline and LSTM across all metrics. The transformer model shows superior understanding of Arabic dialects, slang, and contextual meaning.</a:t>
            </a:r>
            <a:endParaRPr lang="en-US" sz="2000" dirty="0"/>
          </a:p>
        </p:txBody>
      </p:sp>
    </p:spTree>
    <p:extLst>
      <p:ext uri="{BB962C8B-B14F-4D97-AF65-F5344CB8AC3E}">
        <p14:creationId xmlns:p14="http://schemas.microsoft.com/office/powerpoint/2010/main" val="4050419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What Challenges Still Remain</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929953"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7238999"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4033676" y="4225728"/>
            <a:ext cx="3901440" cy="154432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TextBox 6"/>
          <p:cNvSpPr txBox="1"/>
          <p:nvPr/>
        </p:nvSpPr>
        <p:spPr>
          <a:xfrm>
            <a:off x="929953" y="2081707"/>
            <a:ext cx="3901440" cy="1061829"/>
          </a:xfrm>
          <a:prstGeom prst="rect">
            <a:avLst/>
          </a:prstGeom>
          <a:noFill/>
        </p:spPr>
        <p:txBody>
          <a:bodyPr wrap="square" rtlCol="0">
            <a:spAutoFit/>
          </a:bodyPr>
          <a:lstStyle/>
          <a:p>
            <a:pPr algn="ctr"/>
            <a:r>
              <a:rPr lang="en-US" sz="2100" dirty="0" smtClean="0"/>
              <a:t>Arabic dialects and slang still cause confusion for sentiment models.</a:t>
            </a:r>
            <a:endParaRPr lang="en-US" sz="2100" dirty="0"/>
          </a:p>
        </p:txBody>
      </p:sp>
      <p:sp>
        <p:nvSpPr>
          <p:cNvPr id="8" name="TextBox 7"/>
          <p:cNvSpPr txBox="1"/>
          <p:nvPr/>
        </p:nvSpPr>
        <p:spPr>
          <a:xfrm>
            <a:off x="7238999" y="2081706"/>
            <a:ext cx="3901440" cy="1061829"/>
          </a:xfrm>
          <a:prstGeom prst="rect">
            <a:avLst/>
          </a:prstGeom>
          <a:noFill/>
        </p:spPr>
        <p:txBody>
          <a:bodyPr wrap="square" rtlCol="0">
            <a:spAutoFit/>
          </a:bodyPr>
          <a:lstStyle/>
          <a:p>
            <a:pPr algn="ctr"/>
            <a:r>
              <a:rPr lang="en-US" sz="2100" dirty="0" smtClean="0"/>
              <a:t>Sarcasm and mixed emotional expressions remain difficult to detect accurately.</a:t>
            </a:r>
            <a:endParaRPr lang="en-US" sz="2100" dirty="0"/>
          </a:p>
        </p:txBody>
      </p:sp>
      <p:sp>
        <p:nvSpPr>
          <p:cNvPr id="9" name="TextBox 8"/>
          <p:cNvSpPr txBox="1"/>
          <p:nvPr/>
        </p:nvSpPr>
        <p:spPr>
          <a:xfrm>
            <a:off x="4033676" y="4466973"/>
            <a:ext cx="3901440" cy="1061829"/>
          </a:xfrm>
          <a:prstGeom prst="rect">
            <a:avLst/>
          </a:prstGeom>
          <a:noFill/>
        </p:spPr>
        <p:txBody>
          <a:bodyPr wrap="square" rtlCol="0">
            <a:spAutoFit/>
          </a:bodyPr>
          <a:lstStyle/>
          <a:p>
            <a:pPr algn="ctr"/>
            <a:r>
              <a:rPr lang="en-US" sz="2100" dirty="0" smtClean="0"/>
              <a:t>Limited high-quality, balanced Arabic datasets restrict further performance improvements.</a:t>
            </a:r>
            <a:endParaRPr lang="en-US" sz="2100" dirty="0"/>
          </a:p>
        </p:txBody>
      </p:sp>
    </p:spTree>
    <p:extLst>
      <p:ext uri="{BB962C8B-B14F-4D97-AF65-F5344CB8AC3E}">
        <p14:creationId xmlns:p14="http://schemas.microsoft.com/office/powerpoint/2010/main" val="2618178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Next Steps to Improve Our Project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929953"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7238999"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4033676" y="4225728"/>
            <a:ext cx="3901440" cy="154432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TextBox 6"/>
          <p:cNvSpPr txBox="1"/>
          <p:nvPr/>
        </p:nvSpPr>
        <p:spPr>
          <a:xfrm>
            <a:off x="929953" y="2081707"/>
            <a:ext cx="3901440" cy="1061829"/>
          </a:xfrm>
          <a:prstGeom prst="rect">
            <a:avLst/>
          </a:prstGeom>
          <a:noFill/>
        </p:spPr>
        <p:txBody>
          <a:bodyPr wrap="square" rtlCol="0">
            <a:spAutoFit/>
          </a:bodyPr>
          <a:lstStyle/>
          <a:p>
            <a:pPr algn="ctr"/>
            <a:r>
              <a:rPr lang="en-US" sz="2100" dirty="0" smtClean="0"/>
              <a:t>Expand the dataset to include more dialects and balanced sentiment classes.</a:t>
            </a:r>
            <a:endParaRPr lang="en-US" sz="2100" dirty="0"/>
          </a:p>
        </p:txBody>
      </p:sp>
      <p:sp>
        <p:nvSpPr>
          <p:cNvPr id="8" name="TextBox 7"/>
          <p:cNvSpPr txBox="1"/>
          <p:nvPr/>
        </p:nvSpPr>
        <p:spPr>
          <a:xfrm>
            <a:off x="7238999" y="2081706"/>
            <a:ext cx="3901440" cy="1061829"/>
          </a:xfrm>
          <a:prstGeom prst="rect">
            <a:avLst/>
          </a:prstGeom>
          <a:noFill/>
        </p:spPr>
        <p:txBody>
          <a:bodyPr wrap="square" rtlCol="0">
            <a:spAutoFit/>
          </a:bodyPr>
          <a:lstStyle/>
          <a:p>
            <a:pPr algn="ctr"/>
            <a:r>
              <a:rPr lang="en-US" sz="2100" dirty="0" smtClean="0"/>
              <a:t>Explore advanced transformer models like </a:t>
            </a:r>
            <a:r>
              <a:rPr lang="en-US" sz="2100" b="1" dirty="0" smtClean="0"/>
              <a:t>MARBERT</a:t>
            </a:r>
            <a:r>
              <a:rPr lang="en-US" sz="2100" dirty="0" smtClean="0"/>
              <a:t> and </a:t>
            </a:r>
            <a:r>
              <a:rPr lang="en-US" sz="2100" b="1" dirty="0" smtClean="0"/>
              <a:t>JABER</a:t>
            </a:r>
            <a:r>
              <a:rPr lang="en-US" sz="2100" dirty="0" smtClean="0"/>
              <a:t> for better dialect coverage.</a:t>
            </a:r>
            <a:endParaRPr lang="en-US" sz="2100" dirty="0"/>
          </a:p>
        </p:txBody>
      </p:sp>
      <p:sp>
        <p:nvSpPr>
          <p:cNvPr id="9" name="TextBox 8"/>
          <p:cNvSpPr txBox="1"/>
          <p:nvPr/>
        </p:nvSpPr>
        <p:spPr>
          <a:xfrm>
            <a:off x="4033676" y="4305390"/>
            <a:ext cx="3901440" cy="1384995"/>
          </a:xfrm>
          <a:prstGeom prst="rect">
            <a:avLst/>
          </a:prstGeom>
          <a:noFill/>
        </p:spPr>
        <p:txBody>
          <a:bodyPr wrap="square" rtlCol="0">
            <a:spAutoFit/>
          </a:bodyPr>
          <a:lstStyle/>
          <a:p>
            <a:pPr algn="ctr"/>
            <a:r>
              <a:rPr lang="en-US" sz="2100" dirty="0" smtClean="0"/>
              <a:t>Add sarcasm and emoji understanding to improve prediction accuracy on real social media text.</a:t>
            </a:r>
            <a:endParaRPr lang="en-US" sz="2100" dirty="0"/>
          </a:p>
        </p:txBody>
      </p:sp>
    </p:spTree>
    <p:extLst>
      <p:ext uri="{BB962C8B-B14F-4D97-AF65-F5344CB8AC3E}">
        <p14:creationId xmlns:p14="http://schemas.microsoft.com/office/powerpoint/2010/main" val="3451797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Final Thoughts: What We Achieved</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2168665"/>
            <a:ext cx="9160183" cy="339865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7" y="2467608"/>
            <a:ext cx="9160184" cy="2800767"/>
          </a:xfrm>
          <a:prstGeom prst="rect">
            <a:avLst/>
          </a:prstGeom>
          <a:noFill/>
        </p:spPr>
        <p:txBody>
          <a:bodyPr wrap="square" rtlCol="0">
            <a:spAutoFit/>
          </a:bodyPr>
          <a:lstStyle/>
          <a:p>
            <a:pPr marL="285750" indent="-285750" algn="ctr">
              <a:buFont typeface="Arial" panose="020B0604020202020204" pitchFamily="34" charset="0"/>
              <a:buChar char="•"/>
            </a:pPr>
            <a:r>
              <a:rPr lang="en-US" sz="2200" dirty="0" smtClean="0"/>
              <a:t>Our project successfully explored Arabic sentiment analysis using machine learning, deep learning, and transformer-based models. The results clearly showed that AraBERTv2 provides the highest performance, thanks to its ability to understand context, handle dialects, and process real Arabic social media language more effectively than ML and LSTM models. Through this work, we built a complete and reproducible NLP pipeline, demonstrated the strengths of modern transformer models, and contributed meaningful insights for improving Arabic NLP research and applications.</a:t>
            </a:r>
            <a:endParaRPr lang="en-US" sz="2200" dirty="0"/>
          </a:p>
        </p:txBody>
      </p:sp>
    </p:spTree>
    <p:extLst>
      <p:ext uri="{BB962C8B-B14F-4D97-AF65-F5344CB8AC3E}">
        <p14:creationId xmlns:p14="http://schemas.microsoft.com/office/powerpoint/2010/main" val="178831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Explore the Code</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264920" y="1722120"/>
            <a:ext cx="9392290" cy="113538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extBox 1"/>
          <p:cNvSpPr txBox="1"/>
          <p:nvPr/>
        </p:nvSpPr>
        <p:spPr>
          <a:xfrm>
            <a:off x="1264920" y="1830615"/>
            <a:ext cx="9392290" cy="1261884"/>
          </a:xfrm>
          <a:prstGeom prst="rect">
            <a:avLst/>
          </a:prstGeom>
          <a:noFill/>
        </p:spPr>
        <p:txBody>
          <a:bodyPr wrap="square" rtlCol="0">
            <a:spAutoFit/>
          </a:bodyPr>
          <a:lstStyle/>
          <a:p>
            <a:pPr algn="ctr"/>
            <a:r>
              <a:rPr lang="en-US" sz="2000" b="1" dirty="0" smtClean="0"/>
              <a:t>You can access the full code, dataset, and project files on </a:t>
            </a:r>
            <a:r>
              <a:rPr lang="en-US" sz="2000" b="1" dirty="0" err="1" smtClean="0"/>
              <a:t>GitHub</a:t>
            </a:r>
            <a:r>
              <a:rPr lang="en-US" sz="2000" b="1" dirty="0" smtClean="0"/>
              <a:t>:</a:t>
            </a:r>
            <a:endParaRPr lang="en-US" sz="2000" dirty="0" smtClean="0"/>
          </a:p>
          <a:p>
            <a:pPr algn="ctr"/>
            <a:r>
              <a:rPr lang="en-US" sz="2000" dirty="0" smtClean="0"/>
              <a:t>🔗 </a:t>
            </a:r>
            <a:r>
              <a:rPr lang="en-US" sz="2000" dirty="0" smtClean="0">
                <a:hlinkClick r:id="rId2"/>
              </a:rPr>
              <a:t>Arabic Sentiment Analysis Project</a:t>
            </a:r>
            <a:endParaRPr lang="en-US" sz="2000" dirty="0" smtClean="0"/>
          </a:p>
          <a:p>
            <a:endParaRPr lang="en-US" b="1" dirty="0" smtClean="0"/>
          </a:p>
          <a:p>
            <a:endParaRPr lang="en-US" dirty="0"/>
          </a:p>
        </p:txBody>
      </p:sp>
      <p:sp>
        <p:nvSpPr>
          <p:cNvPr id="10" name="Rounded Rectangle 9"/>
          <p:cNvSpPr/>
          <p:nvPr/>
        </p:nvSpPr>
        <p:spPr>
          <a:xfrm>
            <a:off x="1264920" y="3656378"/>
            <a:ext cx="9392290" cy="200790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 name="TextBox 2"/>
          <p:cNvSpPr txBox="1"/>
          <p:nvPr/>
        </p:nvSpPr>
        <p:spPr>
          <a:xfrm>
            <a:off x="1264920" y="3817620"/>
            <a:ext cx="9392290" cy="1846659"/>
          </a:xfrm>
          <a:prstGeom prst="rect">
            <a:avLst/>
          </a:prstGeom>
          <a:noFill/>
        </p:spPr>
        <p:txBody>
          <a:bodyPr wrap="square" rtlCol="0">
            <a:spAutoFit/>
          </a:bodyPr>
          <a:lstStyle/>
          <a:p>
            <a:r>
              <a:rPr lang="en-US" sz="2400" b="1" dirty="0" smtClean="0"/>
              <a:t>Contents:</a:t>
            </a:r>
            <a:endParaRPr lang="en-US" sz="2400" dirty="0" smtClean="0"/>
          </a:p>
          <a:p>
            <a:pPr marL="285750" indent="-285750">
              <a:buFont typeface="Arial" panose="020B0604020202020204" pitchFamily="34" charset="0"/>
              <a:buChar char="•"/>
            </a:pPr>
            <a:r>
              <a:rPr lang="en-US" dirty="0" smtClean="0"/>
              <a:t>Full implementation of Arabic sentiment analysis.</a:t>
            </a:r>
          </a:p>
          <a:p>
            <a:pPr marL="285750" indent="-285750">
              <a:buFont typeface="Arial" panose="020B0604020202020204" pitchFamily="34" charset="0"/>
              <a:buChar char="•"/>
            </a:pPr>
            <a:r>
              <a:rPr lang="en-US" dirty="0" smtClean="0"/>
              <a:t>AraBERTv2 model. </a:t>
            </a:r>
          </a:p>
          <a:p>
            <a:pPr marL="285750" indent="-285750">
              <a:buFont typeface="Arial" panose="020B0604020202020204" pitchFamily="34" charset="0"/>
              <a:buChar char="•"/>
            </a:pPr>
            <a:r>
              <a:rPr lang="en-US" dirty="0" smtClean="0"/>
              <a:t>Preprocessing and evaluation scripts.</a:t>
            </a:r>
          </a:p>
          <a:p>
            <a:pPr marL="285750" indent="-285750">
              <a:buFont typeface="Arial" panose="020B0604020202020204" pitchFamily="34" charset="0"/>
              <a:buChar char="•"/>
            </a:pPr>
            <a:r>
              <a:rPr lang="en-US" dirty="0" smtClean="0"/>
              <a:t>Arabic sentiment dataset used for training and testing.</a:t>
            </a:r>
          </a:p>
          <a:p>
            <a:endParaRPr lang="en-US" dirty="0"/>
          </a:p>
        </p:txBody>
      </p:sp>
    </p:spTree>
    <p:extLst>
      <p:ext uri="{BB962C8B-B14F-4D97-AF65-F5344CB8AC3E}">
        <p14:creationId xmlns:p14="http://schemas.microsoft.com/office/powerpoint/2010/main" val="3114655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0" grpId="0" animBg="1"/>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References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14993" y="2225040"/>
            <a:ext cx="10738806" cy="2831544"/>
          </a:xfrm>
          <a:prstGeom prst="rect">
            <a:avLst/>
          </a:prstGeom>
          <a:noFill/>
        </p:spPr>
        <p:txBody>
          <a:bodyPr wrap="square" rtlCol="1">
            <a:spAutoFit/>
          </a:bodyPr>
          <a:lstStyle/>
          <a:p>
            <a:r>
              <a:rPr lang="en-US" sz="2000" dirty="0"/>
              <a:t>[1] W. Abdul-</a:t>
            </a:r>
            <a:r>
              <a:rPr lang="en-US" sz="2000" dirty="0" err="1"/>
              <a:t>Mageed</a:t>
            </a:r>
            <a:r>
              <a:rPr lang="en-US" sz="2000" dirty="0"/>
              <a:t>, M. </a:t>
            </a:r>
            <a:r>
              <a:rPr lang="en-US" sz="2000" dirty="0" err="1"/>
              <a:t>Elmadany</a:t>
            </a:r>
            <a:r>
              <a:rPr lang="en-US" sz="2000" dirty="0"/>
              <a:t>, and E. </a:t>
            </a:r>
            <a:r>
              <a:rPr lang="en-US" sz="2000" dirty="0" err="1"/>
              <a:t>Durmus</a:t>
            </a:r>
            <a:r>
              <a:rPr lang="en-US" sz="2000" dirty="0"/>
              <a:t>, “</a:t>
            </a:r>
            <a:r>
              <a:rPr lang="en-US" sz="2000" dirty="0" err="1"/>
              <a:t>AraBERT</a:t>
            </a:r>
            <a:r>
              <a:rPr lang="en-US" sz="2000" dirty="0"/>
              <a:t>: Transformer-Based Model for Arabic Language Understanding,” </a:t>
            </a:r>
            <a:r>
              <a:rPr lang="en-US" sz="2000" i="1" dirty="0" err="1"/>
              <a:t>arXiv</a:t>
            </a:r>
            <a:r>
              <a:rPr lang="en-US" sz="2000" i="1" dirty="0"/>
              <a:t> preprint arXiv:2003.00104</a:t>
            </a:r>
            <a:r>
              <a:rPr lang="en-US" sz="2000" dirty="0"/>
              <a:t>, 2020</a:t>
            </a:r>
            <a:r>
              <a:rPr lang="en-US" sz="2000" dirty="0" smtClean="0"/>
              <a:t>.</a:t>
            </a:r>
            <a:endParaRPr lang="en-US" sz="2000" dirty="0"/>
          </a:p>
          <a:p>
            <a:r>
              <a:rPr lang="en-US" sz="2000" dirty="0"/>
              <a:t>[2] W. Abdul-</a:t>
            </a:r>
            <a:r>
              <a:rPr lang="en-US" sz="2000" dirty="0" err="1"/>
              <a:t>Mageed</a:t>
            </a:r>
            <a:r>
              <a:rPr lang="en-US" sz="2000" dirty="0"/>
              <a:t>, M. </a:t>
            </a:r>
            <a:r>
              <a:rPr lang="en-US" sz="2000" dirty="0" err="1"/>
              <a:t>Elmadany</a:t>
            </a:r>
            <a:r>
              <a:rPr lang="en-US" sz="2000" dirty="0"/>
              <a:t>, and E. </a:t>
            </a:r>
            <a:r>
              <a:rPr lang="en-US" sz="2000" dirty="0" err="1"/>
              <a:t>Durmus</a:t>
            </a:r>
            <a:r>
              <a:rPr lang="en-US" sz="2000" dirty="0"/>
              <a:t>, “MARBERT: </a:t>
            </a:r>
            <a:r>
              <a:rPr lang="en-US" sz="2000" dirty="0" err="1"/>
              <a:t>Pretrained</a:t>
            </a:r>
            <a:r>
              <a:rPr lang="en-US" sz="2000" dirty="0"/>
              <a:t> Contextualized </a:t>
            </a:r>
            <a:r>
              <a:rPr lang="en-US" sz="2000" dirty="0" err="1"/>
              <a:t>Embeddings</a:t>
            </a:r>
            <a:r>
              <a:rPr lang="en-US" sz="2000" dirty="0"/>
              <a:t> for Arabic Social Media,” in </a:t>
            </a:r>
            <a:r>
              <a:rPr lang="en-US" sz="2000" i="1" dirty="0"/>
              <a:t>Proc. ACL</a:t>
            </a:r>
            <a:r>
              <a:rPr lang="en-US" sz="2000" dirty="0"/>
              <a:t>, 2021.</a:t>
            </a:r>
          </a:p>
          <a:p>
            <a:r>
              <a:rPr lang="en-US" sz="2000" dirty="0"/>
              <a:t>[3] T. Wolf </a:t>
            </a:r>
            <a:r>
              <a:rPr lang="en-US" sz="2000" i="1" dirty="0"/>
              <a:t>et al</a:t>
            </a:r>
            <a:r>
              <a:rPr lang="en-US" sz="2000" dirty="0"/>
              <a:t>., “Transformers: State-of-the-Art Natural Language Processing,” in </a:t>
            </a:r>
            <a:r>
              <a:rPr lang="en-US" sz="2000" i="1" dirty="0"/>
              <a:t>Proc. EMNLP: System Demonstrations</a:t>
            </a:r>
            <a:r>
              <a:rPr lang="en-US" sz="2000" dirty="0"/>
              <a:t>, 2020.</a:t>
            </a:r>
          </a:p>
          <a:p>
            <a:r>
              <a:rPr lang="en-US" sz="2000" dirty="0"/>
              <a:t>[4] Hugging Face, “AraBERTv2 Model and Dataset.” [Online]. Available: </a:t>
            </a:r>
            <a:r>
              <a:rPr lang="en-US" sz="2000" dirty="0">
                <a:hlinkClick r:id="rId2"/>
              </a:rPr>
              <a:t>https://huggingface.co/aubmindlab/bert-base-arabertv2</a:t>
            </a:r>
            <a:endParaRPr lang="en-US" sz="2000" dirty="0"/>
          </a:p>
          <a:p>
            <a:endParaRPr lang="ar-EG" dirty="0"/>
          </a:p>
        </p:txBody>
      </p:sp>
    </p:spTree>
    <p:extLst>
      <p:ext uri="{BB962C8B-B14F-4D97-AF65-F5344CB8AC3E}">
        <p14:creationId xmlns:p14="http://schemas.microsoft.com/office/powerpoint/2010/main" val="4169690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341120" y="1214120"/>
            <a:ext cx="9509760" cy="44297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21</a:t>
            </a:fld>
            <a:endParaRPr lang="en-US"/>
          </a:p>
        </p:txBody>
      </p:sp>
      <p:sp>
        <p:nvSpPr>
          <p:cNvPr id="8" name="Rectangle 7"/>
          <p:cNvSpPr/>
          <p:nvPr/>
        </p:nvSpPr>
        <p:spPr>
          <a:xfrm>
            <a:off x="1341120" y="2875002"/>
            <a:ext cx="9509760" cy="1107996"/>
          </a:xfrm>
          <a:prstGeom prst="rect">
            <a:avLst/>
          </a:prstGeom>
          <a:noFill/>
        </p:spPr>
        <p:txBody>
          <a:bodyPr wrap="square" lIns="91440" tIns="45720" rIns="91440" bIns="45720">
            <a:spAutoFit/>
          </a:bodyPr>
          <a:lstStyle/>
          <a:p>
            <a:pPr algn="ctr"/>
            <a:r>
              <a:rPr lang="en-US" sz="66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 for listening</a:t>
            </a:r>
            <a:endParaRPr lang="en-US"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1705112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3663</TotalTime>
  <Words>1838</Words>
  <Application>Microsoft Office PowerPoint</Application>
  <PresentationFormat>Widescreen</PresentationFormat>
  <Paragraphs>133</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Abu Taha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54</cp:revision>
  <dcterms:created xsi:type="dcterms:W3CDTF">2025-12-07T19:27:26Z</dcterms:created>
  <dcterms:modified xsi:type="dcterms:W3CDTF">2025-12-14T01:04:44Z</dcterms:modified>
</cp:coreProperties>
</file>